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40"/>
  </p:notesMasterIdLst>
  <p:sldIdLst>
    <p:sldId id="256" r:id="rId5"/>
    <p:sldId id="1823" r:id="rId6"/>
    <p:sldId id="1824"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1825" r:id="rId24"/>
    <p:sldId id="273" r:id="rId25"/>
    <p:sldId id="274" r:id="rId26"/>
    <p:sldId id="275" r:id="rId27"/>
    <p:sldId id="276" r:id="rId28"/>
    <p:sldId id="1826" r:id="rId29"/>
    <p:sldId id="277" r:id="rId30"/>
    <p:sldId id="278" r:id="rId31"/>
    <p:sldId id="279" r:id="rId32"/>
    <p:sldId id="280" r:id="rId33"/>
    <p:sldId id="281" r:id="rId34"/>
    <p:sldId id="282" r:id="rId35"/>
    <p:sldId id="283" r:id="rId36"/>
    <p:sldId id="284" r:id="rId37"/>
    <p:sldId id="285" r:id="rId38"/>
    <p:sldId id="286" r:id="rId39"/>
  </p:sldIdLst>
  <p:sldSz cx="12192000" cy="6858000"/>
  <p:notesSz cx="6858000" cy="9144000"/>
  <p:embeddedFontLst>
    <p:embeddedFont>
      <p:font typeface="Calibri" panose="020F0502020204030204" pitchFamily="34" charset="0"/>
      <p:regular r:id="rId41"/>
      <p:bold r:id="rId42"/>
      <p:italic r:id="rId43"/>
      <p:boldItalic r:id="rId44"/>
    </p:embeddedFont>
    <p:embeddedFont>
      <p:font typeface="Cambria Math" panose="02040503050406030204" pitchFamily="18" charset="0"/>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i8cqeJ4gVsr04ZdTi/ih8W6WUE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2.fntdata"/><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4.fntdata"/><Relationship Id="rId52"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3.fntdata"/><Relationship Id="rId56"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font" Target="fonts/font1.fntdata"/><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CO"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B7DA8E6-7D59-45D1-806A-C62FB4BAE0E7}" type="slidenum">
              <a:rPr lang="en-US" smtClean="0"/>
              <a:pPr/>
              <a:t>2</a:t>
            </a:fld>
            <a:endParaRPr lang="en-US" dirty="0"/>
          </a:p>
        </p:txBody>
      </p:sp>
    </p:spTree>
    <p:extLst>
      <p:ext uri="{BB962C8B-B14F-4D97-AF65-F5344CB8AC3E}">
        <p14:creationId xmlns:p14="http://schemas.microsoft.com/office/powerpoint/2010/main" val="1876722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6D7A4-0E84-A689-1D22-EBC04A3253E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C93AF9-E4D0-6588-7D23-FE8678A480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A528BC-B057-C1B8-858D-26245DDC881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F4645D0-D5BE-B91B-18D8-33F6E0DEBA8E}"/>
              </a:ext>
            </a:extLst>
          </p:cNvPr>
          <p:cNvSpPr>
            <a:spLocks noGrp="1"/>
          </p:cNvSpPr>
          <p:nvPr>
            <p:ph type="sldNum" sz="quarter" idx="5"/>
          </p:nvPr>
        </p:nvSpPr>
        <p:spPr/>
        <p:txBody>
          <a:bodyPr/>
          <a:lstStyle/>
          <a:p>
            <a:fld id="{6B7DA8E6-7D59-45D1-806A-C62FB4BAE0E7}" type="slidenum">
              <a:rPr lang="en-US" smtClean="0"/>
              <a:pPr/>
              <a:t>3</a:t>
            </a:fld>
            <a:endParaRPr lang="en-US" dirty="0"/>
          </a:p>
        </p:txBody>
      </p:sp>
    </p:spTree>
    <p:extLst>
      <p:ext uri="{BB962C8B-B14F-4D97-AF65-F5344CB8AC3E}">
        <p14:creationId xmlns:p14="http://schemas.microsoft.com/office/powerpoint/2010/main" val="2000067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3277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4822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8432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8631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7350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4972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8495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9208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72721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6687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7665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37465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86889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66699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39641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52589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54786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21483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19828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04897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23109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96002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85831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28307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29730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98850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70804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67786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38714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71957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712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0"/>
          <p:cNvSpPr>
            <a:spLocks noGrp="1"/>
          </p:cNvSpPr>
          <p:nvPr>
            <p:ph type="pic" idx="2"/>
          </p:nvPr>
        </p:nvSpPr>
        <p:spPr>
          <a:xfrm>
            <a:off x="5183188" y="987425"/>
            <a:ext cx="6172200" cy="4873625"/>
          </a:xfrm>
          <a:prstGeom prst="rect">
            <a:avLst/>
          </a:prstGeom>
          <a:noFill/>
          <a:ln>
            <a:noFill/>
          </a:ln>
        </p:spPr>
      </p:sp>
      <p:sp>
        <p:nvSpPr>
          <p:cNvPr id="68" name="Google Shape;6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s-CO" dirty="0"/>
              <a:t>OPTIMIZACIÓN</a:t>
            </a:r>
            <a:endParaRPr dirty="0"/>
          </a:p>
        </p:txBody>
      </p:sp>
      <p:sp>
        <p:nvSpPr>
          <p:cNvPr id="89" name="Google Shape;89;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s-CO" dirty="0"/>
              <a:t>DUALIDAD</a:t>
            </a:r>
            <a:endParaRPr dirty="0"/>
          </a:p>
        </p:txBody>
      </p:sp>
      <p:sp>
        <p:nvSpPr>
          <p:cNvPr id="91" name="Google Shape;91;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CuadroTexto 47">
            <a:extLst>
              <a:ext uri="{FF2B5EF4-FFF2-40B4-BE49-F238E27FC236}">
                <a16:creationId xmlns:a16="http://schemas.microsoft.com/office/drawing/2014/main" id="{50A20F21-F240-4F37-9753-0E51EA3A9099}"/>
              </a:ext>
            </a:extLst>
          </p:cNvPr>
          <p:cNvSpPr txBox="1"/>
          <p:nvPr/>
        </p:nvSpPr>
        <p:spPr>
          <a:xfrm>
            <a:off x="406399" y="505828"/>
            <a:ext cx="10363200" cy="748988"/>
          </a:xfrm>
          <a:prstGeom prst="rect">
            <a:avLst/>
          </a:prstGeom>
          <a:noFill/>
          <a:ln>
            <a:noFill/>
          </a:ln>
        </p:spPr>
        <p:txBody>
          <a:bodyPr wrap="square">
            <a:spAutoFit/>
          </a:bodyPr>
          <a:lstStyle/>
          <a:p>
            <a:r>
              <a:rPr lang="es-ES" sz="4267" dirty="0">
                <a:latin typeface="Ancizar Sans Black" panose="020B0A02040300000003" pitchFamily="34" charset="0"/>
              </a:rPr>
              <a:t>1. Definición del problema Dual </a:t>
            </a:r>
          </a:p>
        </p:txBody>
      </p:sp>
      <p:sp>
        <p:nvSpPr>
          <p:cNvPr id="20" name="Rectángulo: esquinas redondeadas 19">
            <a:extLst>
              <a:ext uri="{FF2B5EF4-FFF2-40B4-BE49-F238E27FC236}">
                <a16:creationId xmlns:a16="http://schemas.microsoft.com/office/drawing/2014/main" id="{5F13AA6C-CB8F-1BF4-EA3C-78AEDCB2AC50}"/>
              </a:ext>
            </a:extLst>
          </p:cNvPr>
          <p:cNvSpPr/>
          <p:nvPr/>
        </p:nvSpPr>
        <p:spPr bwMode="auto">
          <a:xfrm>
            <a:off x="406400" y="1193800"/>
            <a:ext cx="11582401" cy="5080000"/>
          </a:xfrm>
          <a:prstGeom prst="roundRect">
            <a:avLst>
              <a:gd name="adj" fmla="val 2618"/>
            </a:avLst>
          </a:prstGeom>
          <a:solidFill>
            <a:schemeClr val="accent1"/>
          </a:solidFill>
          <a:ln w="76200">
            <a:solidFill>
              <a:schemeClr val="bg1"/>
            </a:solidFill>
            <a:round/>
            <a:headEnd/>
            <a:tailEnd/>
          </a:ln>
        </p:spPr>
        <p:txBody>
          <a:bodyPr vert="horz" wrap="square" lIns="121920" tIns="60960" rIns="121920" bIns="60960" numCol="1" rtlCol="0" anchor="ctr" anchorCtr="1" compatLnSpc="1">
            <a:prstTxWarp prst="textNoShape">
              <a:avLst/>
            </a:prstTxWarp>
          </a:bodyPr>
          <a:lstStyle/>
          <a:p>
            <a:pPr algn="ctr"/>
            <a:endParaRPr lang="es-ES" sz="1600" b="1" dirty="0">
              <a:solidFill>
                <a:schemeClr val="tx1">
                  <a:lumMod val="75000"/>
                  <a:lumOff val="25000"/>
                </a:schemeClr>
              </a:solidFill>
              <a:latin typeface="Ancizar Sans" panose="020B0602040300000003" pitchFamily="34" charset="0"/>
            </a:endParaRPr>
          </a:p>
        </p:txBody>
      </p:sp>
      <mc:AlternateContent xmlns:mc="http://schemas.openxmlformats.org/markup-compatibility/2006" xmlns:a14="http://schemas.microsoft.com/office/drawing/2010/main">
        <mc:Choice Requires="a14">
          <p:sp>
            <p:nvSpPr>
              <p:cNvPr id="19" name="Rectángulo: esquinas redondeadas 18">
                <a:extLst>
                  <a:ext uri="{FF2B5EF4-FFF2-40B4-BE49-F238E27FC236}">
                    <a16:creationId xmlns:a16="http://schemas.microsoft.com/office/drawing/2014/main" id="{8381452C-6DDC-8D65-3848-8D000467CE49}"/>
                  </a:ext>
                </a:extLst>
              </p:cNvPr>
              <p:cNvSpPr/>
              <p:nvPr/>
            </p:nvSpPr>
            <p:spPr bwMode="auto">
              <a:xfrm>
                <a:off x="609600" y="1397000"/>
                <a:ext cx="11176000" cy="4673600"/>
              </a:xfrm>
              <a:prstGeom prst="roundRect">
                <a:avLst>
                  <a:gd name="adj" fmla="val 2618"/>
                </a:avLst>
              </a:prstGeom>
              <a:solidFill>
                <a:schemeClr val="bg1"/>
              </a:solidFill>
              <a:ln w="76200">
                <a:noFill/>
                <a:round/>
                <a:headEnd/>
                <a:tailEnd/>
              </a:ln>
            </p:spPr>
            <p:txBody>
              <a:bodyPr vert="horz" wrap="square" lIns="121920" tIns="60960" rIns="121920" bIns="60960" numCol="1" rtlCol="0" anchor="ctr" anchorCtr="1" compatLnSpc="1">
                <a:prstTxWarp prst="textNoShape">
                  <a:avLst/>
                </a:prstTxWarp>
              </a:bodyPr>
              <a:lstStyle/>
              <a:p>
                <a:pPr algn="just"/>
                <a:r>
                  <a:rPr lang="es-CO" sz="2133" dirty="0"/>
                  <a:t>El </a:t>
                </a:r>
                <a:r>
                  <a:rPr lang="es-CO" sz="2133" dirty="0">
                    <a:highlight>
                      <a:srgbClr val="FFFF00"/>
                    </a:highlight>
                  </a:rPr>
                  <a:t>problema dual </a:t>
                </a:r>
                <a:r>
                  <a:rPr lang="es-CO" sz="2133" dirty="0"/>
                  <a:t>se define sistemáticamente a partir del modelo de </a:t>
                </a:r>
                <a:r>
                  <a:rPr lang="es-CO" sz="2133" dirty="0">
                    <a:highlight>
                      <a:srgbClr val="FFFF00"/>
                    </a:highlight>
                  </a:rPr>
                  <a:t>PL primal (u original). </a:t>
                </a:r>
                <a:r>
                  <a:rPr lang="es-CO" sz="2133" dirty="0"/>
                  <a:t>Los dos problemas están estrechamente relacionados en el sentido de que la solución óptima de uno proporciona automáticamente la solución óptima al otro.</a:t>
                </a:r>
              </a:p>
              <a:p>
                <a:pPr algn="just"/>
                <a:r>
                  <a:rPr lang="es-CO" sz="2133" dirty="0"/>
                  <a:t>En la mayoría de los tratamientos de PL, el dual se define para varias formas del primal según el sentido de la optimización (maximización o minimización), los tipos de restricciones (</a:t>
                </a:r>
                <a14:m>
                  <m:oMath xmlns:m="http://schemas.openxmlformats.org/officeDocument/2006/math">
                    <m:r>
                      <a:rPr lang="es-CO" sz="2133" i="1">
                        <a:latin typeface="Cambria Math" panose="02040503050406030204" pitchFamily="18" charset="0"/>
                        <a:ea typeface="Cambria Math" panose="02040503050406030204" pitchFamily="18" charset="0"/>
                      </a:rPr>
                      <m:t>≤ </m:t>
                    </m:r>
                  </m:oMath>
                </a14:m>
                <a:r>
                  <a:rPr lang="es-CO" sz="2133" dirty="0"/>
                  <a:t>, </a:t>
                </a:r>
                <a14:m>
                  <m:oMath xmlns:m="http://schemas.openxmlformats.org/officeDocument/2006/math">
                    <m:r>
                      <a:rPr lang="es-CO" sz="2133" i="1">
                        <a:latin typeface="Cambria Math" panose="02040503050406030204" pitchFamily="18" charset="0"/>
                        <a:ea typeface="MS Mincho" panose="02020609040205080304" pitchFamily="49" charset="-128"/>
                        <a:cs typeface="Times New Roman" panose="02020603050405020304" pitchFamily="18" charset="0"/>
                      </a:rPr>
                      <m:t>≥ </m:t>
                    </m:r>
                  </m:oMath>
                </a14:m>
                <a:r>
                  <a:rPr lang="es-CO" sz="2133" dirty="0"/>
                  <a:t>,o =), y el signo de las variables (no negativas o irrestrictas).</a:t>
                </a:r>
              </a:p>
              <a:p>
                <a:pPr algn="just"/>
                <a:endParaRPr lang="es-CO" sz="2133" dirty="0"/>
              </a:p>
              <a:p>
                <a:pPr algn="just"/>
                <a:r>
                  <a:rPr lang="es-CO" sz="2133" dirty="0">
                    <a:highlight>
                      <a:srgbClr val="FFFF00"/>
                    </a:highlight>
                  </a:rPr>
                  <a:t>Nuestra definición del problema dual </a:t>
                </a:r>
                <a:r>
                  <a:rPr lang="es-CO" sz="2133" dirty="0"/>
                  <a:t>requiere expresar el </a:t>
                </a:r>
                <a:r>
                  <a:rPr lang="es-CO" sz="2133" dirty="0">
                    <a:highlight>
                      <a:srgbClr val="FFFF00"/>
                    </a:highlight>
                  </a:rPr>
                  <a:t>problema primal </a:t>
                </a:r>
                <a:r>
                  <a:rPr lang="es-CO" sz="2133" dirty="0"/>
                  <a:t>en la forma de ecuación (todas las restricciones son ecuaciones con lado derecho no negativo, y todas las variables son no negativas). Este requerimiento es consistente con el formato de la tabla inicial simplex. De ahí que cualesquier resultados obtenidos a partir de la solución óptima primal se aplican directamente al problema dual asociado.</a:t>
                </a:r>
              </a:p>
            </p:txBody>
          </p:sp>
        </mc:Choice>
        <mc:Fallback xmlns="">
          <p:sp>
            <p:nvSpPr>
              <p:cNvPr id="19" name="Rectángulo: esquinas redondeadas 18">
                <a:extLst>
                  <a:ext uri="{FF2B5EF4-FFF2-40B4-BE49-F238E27FC236}">
                    <a16:creationId xmlns:a16="http://schemas.microsoft.com/office/drawing/2014/main" id="{8381452C-6DDC-8D65-3848-8D000467CE49}"/>
                  </a:ext>
                </a:extLst>
              </p:cNvPr>
              <p:cNvSpPr>
                <a:spLocks noRot="1" noChangeAspect="1" noMove="1" noResize="1" noEditPoints="1" noAdjustHandles="1" noChangeArrowheads="1" noChangeShapeType="1" noTextEdit="1"/>
              </p:cNvSpPr>
              <p:nvPr/>
            </p:nvSpPr>
            <p:spPr bwMode="auto">
              <a:xfrm>
                <a:off x="609600" y="1397000"/>
                <a:ext cx="11176000" cy="4673600"/>
              </a:xfrm>
              <a:prstGeom prst="roundRect">
                <a:avLst>
                  <a:gd name="adj" fmla="val 2618"/>
                </a:avLst>
              </a:prstGeom>
              <a:blipFill>
                <a:blip r:embed="rId3"/>
                <a:stretch>
                  <a:fillRect l="-55" r="-818"/>
                </a:stretch>
              </a:blipFill>
              <a:ln w="76200">
                <a:noFill/>
                <a:round/>
                <a:headEnd/>
                <a:tailEnd/>
              </a:ln>
            </p:spPr>
            <p:txBody>
              <a:bodyPr/>
              <a:lstStyle/>
              <a:p>
                <a:r>
                  <a:rPr lang="es-CO">
                    <a:noFill/>
                  </a:rPr>
                  <a:t> </a:t>
                </a:r>
              </a:p>
            </p:txBody>
          </p:sp>
        </mc:Fallback>
      </mc:AlternateContent>
    </p:spTree>
    <p:extLst>
      <p:ext uri="{BB962C8B-B14F-4D97-AF65-F5344CB8AC3E}">
        <p14:creationId xmlns:p14="http://schemas.microsoft.com/office/powerpoint/2010/main" val="2243223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B702C-C54A-9FBC-B21C-8487CCA64388}"/>
            </a:ext>
          </a:extLst>
        </p:cNvPr>
        <p:cNvGrpSpPr/>
        <p:nvPr/>
      </p:nvGrpSpPr>
      <p:grpSpPr>
        <a:xfrm>
          <a:off x="0" y="0"/>
          <a:ext cx="0" cy="0"/>
          <a:chOff x="0" y="0"/>
          <a:chExt cx="0" cy="0"/>
        </a:xfrm>
      </p:grpSpPr>
      <p:sp>
        <p:nvSpPr>
          <p:cNvPr id="48" name="CuadroTexto 47">
            <a:extLst>
              <a:ext uri="{FF2B5EF4-FFF2-40B4-BE49-F238E27FC236}">
                <a16:creationId xmlns:a16="http://schemas.microsoft.com/office/drawing/2014/main" id="{1997A838-F5DC-C02C-C421-3D555E6E870C}"/>
              </a:ext>
            </a:extLst>
          </p:cNvPr>
          <p:cNvSpPr txBox="1"/>
          <p:nvPr/>
        </p:nvSpPr>
        <p:spPr>
          <a:xfrm>
            <a:off x="406399" y="505828"/>
            <a:ext cx="10363200" cy="748988"/>
          </a:xfrm>
          <a:prstGeom prst="rect">
            <a:avLst/>
          </a:prstGeom>
          <a:noFill/>
          <a:ln>
            <a:noFill/>
          </a:ln>
        </p:spPr>
        <p:txBody>
          <a:bodyPr wrap="square">
            <a:spAutoFit/>
          </a:bodyPr>
          <a:lstStyle/>
          <a:p>
            <a:r>
              <a:rPr lang="es-ES" sz="4267" dirty="0">
                <a:latin typeface="Ancizar Sans Black" panose="020B0A02040300000003" pitchFamily="34" charset="0"/>
              </a:rPr>
              <a:t>1. Definición del problema Dual </a:t>
            </a:r>
          </a:p>
        </p:txBody>
      </p:sp>
      <p:pic>
        <p:nvPicPr>
          <p:cNvPr id="3" name="Imagen 2">
            <a:extLst>
              <a:ext uri="{FF2B5EF4-FFF2-40B4-BE49-F238E27FC236}">
                <a16:creationId xmlns:a16="http://schemas.microsoft.com/office/drawing/2014/main" id="{37AE6246-7A16-5D5A-CE31-84F1C653D091}"/>
              </a:ext>
            </a:extLst>
          </p:cNvPr>
          <p:cNvPicPr>
            <a:picLocks noChangeAspect="1"/>
          </p:cNvPicPr>
          <p:nvPr/>
        </p:nvPicPr>
        <p:blipFill>
          <a:blip r:embed="rId3"/>
          <a:stretch>
            <a:fillRect/>
          </a:stretch>
        </p:blipFill>
        <p:spPr>
          <a:xfrm>
            <a:off x="2690337" y="1379269"/>
            <a:ext cx="6811326" cy="1771897"/>
          </a:xfrm>
          <a:prstGeom prst="rect">
            <a:avLst/>
          </a:prstGeom>
        </p:spPr>
      </p:pic>
      <p:pic>
        <p:nvPicPr>
          <p:cNvPr id="5" name="Imagen 4">
            <a:extLst>
              <a:ext uri="{FF2B5EF4-FFF2-40B4-BE49-F238E27FC236}">
                <a16:creationId xmlns:a16="http://schemas.microsoft.com/office/drawing/2014/main" id="{D883ADC6-939D-7127-93E7-F6E6DF664649}"/>
              </a:ext>
            </a:extLst>
          </p:cNvPr>
          <p:cNvPicPr>
            <a:picLocks noChangeAspect="1"/>
          </p:cNvPicPr>
          <p:nvPr/>
        </p:nvPicPr>
        <p:blipFill>
          <a:blip r:embed="rId4"/>
          <a:stretch>
            <a:fillRect/>
          </a:stretch>
        </p:blipFill>
        <p:spPr>
          <a:xfrm>
            <a:off x="3610694" y="3275619"/>
            <a:ext cx="4970611" cy="2732711"/>
          </a:xfrm>
          <a:prstGeom prst="rect">
            <a:avLst/>
          </a:prstGeom>
        </p:spPr>
      </p:pic>
    </p:spTree>
    <p:extLst>
      <p:ext uri="{BB962C8B-B14F-4D97-AF65-F5344CB8AC3E}">
        <p14:creationId xmlns:p14="http://schemas.microsoft.com/office/powerpoint/2010/main" val="568127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CO" dirty="0"/>
              <a:t>DUALIDAD</a:t>
            </a:r>
            <a:endParaRPr dirty="0"/>
          </a:p>
        </p:txBody>
      </p:sp>
      <p:sp>
        <p:nvSpPr>
          <p:cNvPr id="97" name="Google Shape;97;p2"/>
          <p:cNvSpPr txBox="1">
            <a:spLocks noGrp="1"/>
          </p:cNvSpPr>
          <p:nvPr>
            <p:ph type="body" idx="1"/>
          </p:nvPr>
        </p:nvSpPr>
        <p:spPr>
          <a:xfrm>
            <a:off x="838199" y="1825625"/>
            <a:ext cx="4203357"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s-ES" dirty="0"/>
              <a:t>Los problemas que venimos trabajando se denominan problemas primo o primal</a:t>
            </a:r>
          </a:p>
          <a:p>
            <a:pPr marL="228600" lvl="0" indent="-228600" algn="l" rtl="0">
              <a:lnSpc>
                <a:spcPct val="90000"/>
              </a:lnSpc>
              <a:spcBef>
                <a:spcPts val="0"/>
              </a:spcBef>
              <a:spcAft>
                <a:spcPts val="0"/>
              </a:spcAft>
              <a:buClr>
                <a:schemeClr val="dk1"/>
              </a:buClr>
              <a:buSzPts val="2800"/>
              <a:buChar char="•"/>
            </a:pPr>
            <a:r>
              <a:rPr lang="es-ES" dirty="0"/>
              <a:t>Estos se encuentran asociados a un problema dual</a:t>
            </a:r>
          </a:p>
          <a:p>
            <a:pPr marL="228600" lvl="0" indent="-228600" algn="l" rtl="0">
              <a:lnSpc>
                <a:spcPct val="90000"/>
              </a:lnSpc>
              <a:spcBef>
                <a:spcPts val="0"/>
              </a:spcBef>
              <a:spcAft>
                <a:spcPts val="0"/>
              </a:spcAft>
              <a:buClr>
                <a:schemeClr val="dk1"/>
              </a:buClr>
              <a:buSzPts val="2800"/>
              <a:buChar char="•"/>
            </a:pPr>
            <a:r>
              <a:rPr lang="es-ES" dirty="0"/>
              <a:t>Si se soluciona el problema dual se soluciona el problema primo</a:t>
            </a:r>
          </a:p>
          <a:p>
            <a:pPr marL="228600" indent="-228600">
              <a:spcBef>
                <a:spcPts val="0"/>
              </a:spcBef>
              <a:buSzPts val="2800"/>
            </a:pP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4</a:t>
            </a:fld>
            <a:endParaRPr/>
          </a:p>
        </p:txBody>
      </p:sp>
      <p:pic>
        <p:nvPicPr>
          <p:cNvPr id="2" name="Imagen 1">
            <a:extLst>
              <a:ext uri="{FF2B5EF4-FFF2-40B4-BE49-F238E27FC236}">
                <a16:creationId xmlns:a16="http://schemas.microsoft.com/office/drawing/2014/main" id="{A5955FDF-A4A1-46C0-A5FA-7324781D9A65}"/>
              </a:ext>
            </a:extLst>
          </p:cNvPr>
          <p:cNvPicPr>
            <a:picLocks noChangeAspect="1"/>
          </p:cNvPicPr>
          <p:nvPr/>
        </p:nvPicPr>
        <p:blipFill>
          <a:blip r:embed="rId3"/>
          <a:stretch>
            <a:fillRect/>
          </a:stretch>
        </p:blipFill>
        <p:spPr>
          <a:xfrm>
            <a:off x="5810963" y="768840"/>
            <a:ext cx="5599274" cy="5587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CO" dirty="0"/>
              <a:t>DUALIDAD</a:t>
            </a:r>
            <a:endParaRPr dirty="0"/>
          </a:p>
        </p:txBody>
      </p:sp>
      <p:sp>
        <p:nvSpPr>
          <p:cNvPr id="97" name="Google Shape;97;p2"/>
          <p:cNvSpPr txBox="1">
            <a:spLocks noGrp="1"/>
          </p:cNvSpPr>
          <p:nvPr>
            <p:ph type="body" idx="1"/>
          </p:nvPr>
        </p:nvSpPr>
        <p:spPr>
          <a:xfrm>
            <a:off x="838199" y="1825625"/>
            <a:ext cx="4203357" cy="4351338"/>
          </a:xfrm>
          <a:prstGeom prst="rect">
            <a:avLst/>
          </a:prstGeom>
          <a:noFill/>
          <a:ln>
            <a:noFill/>
          </a:ln>
        </p:spPr>
        <p:txBody>
          <a:bodyPr spcFirstLastPara="1" wrap="square" lIns="91425" tIns="45700" rIns="91425" bIns="45700" anchor="t" anchorCtr="0">
            <a:normAutofit lnSpcReduction="10000"/>
          </a:bodyPr>
          <a:lstStyle/>
          <a:p>
            <a:pPr marL="228600" lvl="0" indent="-228600">
              <a:spcBef>
                <a:spcPts val="0"/>
              </a:spcBef>
              <a:buSzPts val="2800"/>
            </a:pPr>
            <a:r>
              <a:rPr lang="es-ES" dirty="0"/>
              <a:t>Cada variable genera una restricción y cada restricción genera una variable en el problema dual</a:t>
            </a:r>
          </a:p>
          <a:p>
            <a:pPr marL="228600" lvl="0" indent="-228600">
              <a:spcBef>
                <a:spcPts val="0"/>
              </a:spcBef>
              <a:buSzPts val="2800"/>
            </a:pPr>
            <a:r>
              <a:rPr lang="es-ES" dirty="0"/>
              <a:t>La dualidad es sólo un proceso de convertir un problema en otro</a:t>
            </a:r>
          </a:p>
          <a:p>
            <a:pPr marL="228600" lvl="0" indent="-228600">
              <a:spcBef>
                <a:spcPts val="0"/>
              </a:spcBef>
              <a:buSzPts val="2800"/>
            </a:pPr>
            <a:r>
              <a:rPr lang="es-CO" dirty="0"/>
              <a:t>Menos restricciones</a:t>
            </a:r>
          </a:p>
          <a:p>
            <a:pPr marL="228600" lvl="0" indent="-228600">
              <a:spcBef>
                <a:spcPts val="0"/>
              </a:spcBef>
              <a:buSzPts val="2800"/>
            </a:pPr>
            <a:r>
              <a:rPr lang="es-CO" dirty="0"/>
              <a:t>Un problema de m*n queda transformado en</a:t>
            </a:r>
            <a:br>
              <a:rPr lang="es-CO" dirty="0"/>
            </a:br>
            <a:r>
              <a:rPr lang="es-CO" dirty="0"/>
              <a:t>un problema de n*m</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5</a:t>
            </a:fld>
            <a:endParaRPr/>
          </a:p>
        </p:txBody>
      </p:sp>
      <p:pic>
        <p:nvPicPr>
          <p:cNvPr id="3" name="Imagen 2">
            <a:extLst>
              <a:ext uri="{FF2B5EF4-FFF2-40B4-BE49-F238E27FC236}">
                <a16:creationId xmlns:a16="http://schemas.microsoft.com/office/drawing/2014/main" id="{7D70253E-5613-4EC8-A460-ACBD45AB5C87}"/>
              </a:ext>
            </a:extLst>
          </p:cNvPr>
          <p:cNvPicPr>
            <a:picLocks noChangeAspect="1"/>
          </p:cNvPicPr>
          <p:nvPr/>
        </p:nvPicPr>
        <p:blipFill>
          <a:blip r:embed="rId3"/>
          <a:stretch>
            <a:fillRect/>
          </a:stretch>
        </p:blipFill>
        <p:spPr>
          <a:xfrm>
            <a:off x="5554362" y="1690688"/>
            <a:ext cx="6112476" cy="2928541"/>
          </a:xfrm>
          <a:prstGeom prst="rect">
            <a:avLst/>
          </a:prstGeom>
        </p:spPr>
      </p:pic>
      <p:sp>
        <p:nvSpPr>
          <p:cNvPr id="2" name="Rectángulo 1">
            <a:extLst>
              <a:ext uri="{FF2B5EF4-FFF2-40B4-BE49-F238E27FC236}">
                <a16:creationId xmlns:a16="http://schemas.microsoft.com/office/drawing/2014/main" id="{F689E9AC-ECFE-40B3-9510-DD1B60AAE9AD}"/>
              </a:ext>
            </a:extLst>
          </p:cNvPr>
          <p:cNvSpPr/>
          <p:nvPr/>
        </p:nvSpPr>
        <p:spPr>
          <a:xfrm>
            <a:off x="7478162" y="1690688"/>
            <a:ext cx="805759" cy="3553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571234F1-F36E-4745-85CB-8A98A775A450}"/>
              </a:ext>
            </a:extLst>
          </p:cNvPr>
          <p:cNvSpPr/>
          <p:nvPr/>
        </p:nvSpPr>
        <p:spPr>
          <a:xfrm>
            <a:off x="10512521" y="1690687"/>
            <a:ext cx="805759" cy="3553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614974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CO" dirty="0"/>
              <a:t>DUALIDAD</a:t>
            </a:r>
            <a:endParaRPr dirty="0"/>
          </a:p>
        </p:txBody>
      </p:sp>
      <p:sp>
        <p:nvSpPr>
          <p:cNvPr id="97" name="Google Shape;97;p2"/>
          <p:cNvSpPr txBox="1">
            <a:spLocks noGrp="1"/>
          </p:cNvSpPr>
          <p:nvPr>
            <p:ph type="body" idx="1"/>
          </p:nvPr>
        </p:nvSpPr>
        <p:spPr>
          <a:xfrm>
            <a:off x="174400" y="4489123"/>
            <a:ext cx="11843200" cy="2196697"/>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spcBef>
                <a:spcPts val="0"/>
              </a:spcBef>
              <a:buSzPts val="2800"/>
            </a:pPr>
            <a:r>
              <a:rPr lang="es-ES" dirty="0"/>
              <a:t>B </a:t>
            </a:r>
            <a:r>
              <a:rPr lang="es-ES" baseline="30000" dirty="0"/>
              <a:t>-1</a:t>
            </a:r>
            <a:r>
              <a:rPr lang="es-ES" dirty="0"/>
              <a:t> : matriz en cada una de las iteraciones conformada por lo que inicial-</a:t>
            </a:r>
            <a:br>
              <a:rPr lang="es-ES" dirty="0"/>
            </a:br>
            <a:r>
              <a:rPr lang="es-ES" dirty="0"/>
              <a:t>mente era la matriz identidad.</a:t>
            </a:r>
            <a:br>
              <a:rPr lang="es-ES" dirty="0"/>
            </a:br>
            <a:r>
              <a:rPr lang="es-ES" dirty="0"/>
              <a:t>a </a:t>
            </a:r>
            <a:r>
              <a:rPr lang="es-ES" baseline="-25000" dirty="0"/>
              <a:t>j</a:t>
            </a:r>
            <a:r>
              <a:rPr lang="es-ES" dirty="0"/>
              <a:t> : vector de asignación unitaria de recursos para cada variable.</a:t>
            </a:r>
            <a:br>
              <a:rPr lang="es-ES" dirty="0"/>
            </a:br>
            <a:r>
              <a:rPr lang="es-ES" dirty="0"/>
              <a:t>b : vector de disponibilidad de recursos.</a:t>
            </a:r>
            <a:br>
              <a:rPr lang="es-ES" dirty="0"/>
            </a:br>
            <a:r>
              <a:rPr lang="es-ES" dirty="0"/>
              <a:t>C</a:t>
            </a:r>
            <a:r>
              <a:rPr lang="es-ES" baseline="-25000" dirty="0"/>
              <a:t>B</a:t>
            </a:r>
            <a:r>
              <a:rPr lang="es-ES" dirty="0"/>
              <a:t> : coeficientes de las variables básicas en la función objetivo.</a:t>
            </a:r>
            <a:br>
              <a:rPr lang="es-ES" dirty="0"/>
            </a:br>
            <a:r>
              <a:rPr lang="es-ES" dirty="0"/>
              <a:t>C</a:t>
            </a:r>
            <a:r>
              <a:rPr lang="es-ES" baseline="-25000" dirty="0"/>
              <a:t>j</a:t>
            </a:r>
            <a:r>
              <a:rPr lang="es-ES" dirty="0"/>
              <a:t> : coeficientes de la función objetivo.</a:t>
            </a:r>
            <a:br>
              <a:rPr lang="es-ES" dirty="0"/>
            </a:br>
            <a:r>
              <a:rPr lang="es-ES" dirty="0"/>
              <a:t>X</a:t>
            </a:r>
            <a:r>
              <a:rPr lang="es-ES" baseline="-25000" dirty="0"/>
              <a:t>B</a:t>
            </a:r>
            <a:r>
              <a:rPr lang="es-ES" dirty="0"/>
              <a:t> : vector solución.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6</a:t>
            </a:fld>
            <a:endParaRPr/>
          </a:p>
        </p:txBody>
      </p:sp>
      <p:pic>
        <p:nvPicPr>
          <p:cNvPr id="2" name="Imagen 1">
            <a:extLst>
              <a:ext uri="{FF2B5EF4-FFF2-40B4-BE49-F238E27FC236}">
                <a16:creationId xmlns:a16="http://schemas.microsoft.com/office/drawing/2014/main" id="{2B87C50B-BFBC-453B-9A78-9871E6C669D7}"/>
              </a:ext>
            </a:extLst>
          </p:cNvPr>
          <p:cNvPicPr>
            <a:picLocks noChangeAspect="1"/>
          </p:cNvPicPr>
          <p:nvPr/>
        </p:nvPicPr>
        <p:blipFill>
          <a:blip r:embed="rId3"/>
          <a:stretch>
            <a:fillRect/>
          </a:stretch>
        </p:blipFill>
        <p:spPr>
          <a:xfrm>
            <a:off x="999011" y="1370522"/>
            <a:ext cx="10193978" cy="2713833"/>
          </a:xfrm>
          <a:prstGeom prst="rect">
            <a:avLst/>
          </a:prstGeom>
        </p:spPr>
      </p:pic>
    </p:spTree>
    <p:extLst>
      <p:ext uri="{BB962C8B-B14F-4D97-AF65-F5344CB8AC3E}">
        <p14:creationId xmlns:p14="http://schemas.microsoft.com/office/powerpoint/2010/main" val="606329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CO" dirty="0"/>
              <a:t>DUALIDAD</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7</a:t>
            </a:fld>
            <a:endParaRPr/>
          </a:p>
        </p:txBody>
      </p:sp>
      <p:pic>
        <p:nvPicPr>
          <p:cNvPr id="3" name="Imagen 2">
            <a:extLst>
              <a:ext uri="{FF2B5EF4-FFF2-40B4-BE49-F238E27FC236}">
                <a16:creationId xmlns:a16="http://schemas.microsoft.com/office/drawing/2014/main" id="{80D3A01D-3CBF-4479-B2F6-D8E36CF280B5}"/>
              </a:ext>
            </a:extLst>
          </p:cNvPr>
          <p:cNvPicPr>
            <a:picLocks noChangeAspect="1"/>
          </p:cNvPicPr>
          <p:nvPr/>
        </p:nvPicPr>
        <p:blipFill>
          <a:blip r:embed="rId3"/>
          <a:stretch>
            <a:fillRect/>
          </a:stretch>
        </p:blipFill>
        <p:spPr>
          <a:xfrm>
            <a:off x="573766" y="1984907"/>
            <a:ext cx="1808107" cy="1664281"/>
          </a:xfrm>
          <a:prstGeom prst="rect">
            <a:avLst/>
          </a:prstGeom>
        </p:spPr>
      </p:pic>
      <p:pic>
        <p:nvPicPr>
          <p:cNvPr id="4" name="Imagen 3">
            <a:extLst>
              <a:ext uri="{FF2B5EF4-FFF2-40B4-BE49-F238E27FC236}">
                <a16:creationId xmlns:a16="http://schemas.microsoft.com/office/drawing/2014/main" id="{5C363C5D-C138-47FA-B94D-DD4A61BD5E42}"/>
              </a:ext>
            </a:extLst>
          </p:cNvPr>
          <p:cNvPicPr>
            <a:picLocks noChangeAspect="1"/>
          </p:cNvPicPr>
          <p:nvPr/>
        </p:nvPicPr>
        <p:blipFill>
          <a:blip r:embed="rId4"/>
          <a:stretch>
            <a:fillRect/>
          </a:stretch>
        </p:blipFill>
        <p:spPr>
          <a:xfrm>
            <a:off x="4675746" y="2368877"/>
            <a:ext cx="2108526" cy="621460"/>
          </a:xfrm>
          <a:prstGeom prst="rect">
            <a:avLst/>
          </a:prstGeom>
        </p:spPr>
      </p:pic>
      <p:pic>
        <p:nvPicPr>
          <p:cNvPr id="5" name="Imagen 4">
            <a:extLst>
              <a:ext uri="{FF2B5EF4-FFF2-40B4-BE49-F238E27FC236}">
                <a16:creationId xmlns:a16="http://schemas.microsoft.com/office/drawing/2014/main" id="{68C4256A-7C6F-4AF8-8903-767FA4E8B697}"/>
              </a:ext>
            </a:extLst>
          </p:cNvPr>
          <p:cNvPicPr>
            <a:picLocks noChangeAspect="1"/>
          </p:cNvPicPr>
          <p:nvPr/>
        </p:nvPicPr>
        <p:blipFill>
          <a:blip r:embed="rId5"/>
          <a:stretch>
            <a:fillRect/>
          </a:stretch>
        </p:blipFill>
        <p:spPr>
          <a:xfrm>
            <a:off x="9078146" y="2417659"/>
            <a:ext cx="1808107" cy="672246"/>
          </a:xfrm>
          <a:prstGeom prst="rect">
            <a:avLst/>
          </a:prstGeom>
        </p:spPr>
      </p:pic>
    </p:spTree>
    <p:extLst>
      <p:ext uri="{BB962C8B-B14F-4D97-AF65-F5344CB8AC3E}">
        <p14:creationId xmlns:p14="http://schemas.microsoft.com/office/powerpoint/2010/main" val="540032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MAXIMIZACIÓN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8</a:t>
            </a:fld>
            <a:endParaRPr/>
          </a:p>
        </p:txBody>
      </p:sp>
      <p:sp>
        <p:nvSpPr>
          <p:cNvPr id="8" name="Google Shape;97;p2">
            <a:extLst>
              <a:ext uri="{FF2B5EF4-FFF2-40B4-BE49-F238E27FC236}">
                <a16:creationId xmlns:a16="http://schemas.microsoft.com/office/drawing/2014/main" id="{E2C217DC-1E21-4829-9901-9F99564C3F0B}"/>
              </a:ext>
            </a:extLst>
          </p:cNvPr>
          <p:cNvSpPr txBox="1">
            <a:spLocks noGrp="1"/>
          </p:cNvSpPr>
          <p:nvPr>
            <p:ph type="body" idx="1"/>
          </p:nvPr>
        </p:nvSpPr>
        <p:spPr>
          <a:xfrm>
            <a:off x="68713" y="1424648"/>
            <a:ext cx="11843200" cy="4654876"/>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La compañía Sigma produce bibliotecas y escritorios para los cuales se ha establecido un precio de venta por unidad de $9.000 y $10.000 respectivamente. Para la producción de dichos artículos la compañía cuenta con una disponibilidad mensual de 700 metros de madera, 800 metros de tubo y 900 pliegos de papel de lija. ¿Qué cantidad de bibliotecas y escritorios se debe fabricar mensualmente si se sabe que una biblioteca consume 7 metros de madera, 10 metros de tubo y 6 pliegos de papel de lija; mientras que para producir un escritorio se requiere10 metros de madera, 8 metros de tubo y 15 pliegos de papel de lija?</a:t>
            </a:r>
            <a:endParaRPr dirty="0"/>
          </a:p>
        </p:txBody>
      </p:sp>
    </p:spTree>
    <p:extLst>
      <p:ext uri="{BB962C8B-B14F-4D97-AF65-F5344CB8AC3E}">
        <p14:creationId xmlns:p14="http://schemas.microsoft.com/office/powerpoint/2010/main" val="211629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MAXIMIZACIÓN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9</a:t>
            </a:fld>
            <a:endParaRPr/>
          </a:p>
        </p:txBody>
      </p:sp>
      <p:pic>
        <p:nvPicPr>
          <p:cNvPr id="4" name="Imagen 3">
            <a:extLst>
              <a:ext uri="{FF2B5EF4-FFF2-40B4-BE49-F238E27FC236}">
                <a16:creationId xmlns:a16="http://schemas.microsoft.com/office/drawing/2014/main" id="{D9984C3C-71AF-46F2-988D-EC5221F9CD5D}"/>
              </a:ext>
            </a:extLst>
          </p:cNvPr>
          <p:cNvPicPr>
            <a:picLocks noChangeAspect="1"/>
          </p:cNvPicPr>
          <p:nvPr/>
        </p:nvPicPr>
        <p:blipFill>
          <a:blip r:embed="rId3"/>
          <a:stretch>
            <a:fillRect/>
          </a:stretch>
        </p:blipFill>
        <p:spPr>
          <a:xfrm>
            <a:off x="361861" y="1934994"/>
            <a:ext cx="5492744" cy="907059"/>
          </a:xfrm>
          <a:prstGeom prst="rect">
            <a:avLst/>
          </a:prstGeom>
        </p:spPr>
      </p:pic>
      <p:pic>
        <p:nvPicPr>
          <p:cNvPr id="5" name="Imagen 4">
            <a:extLst>
              <a:ext uri="{FF2B5EF4-FFF2-40B4-BE49-F238E27FC236}">
                <a16:creationId xmlns:a16="http://schemas.microsoft.com/office/drawing/2014/main" id="{697B142C-6BF9-4AFC-8F9A-5190EAE41685}"/>
              </a:ext>
            </a:extLst>
          </p:cNvPr>
          <p:cNvPicPr>
            <a:picLocks noChangeAspect="1"/>
          </p:cNvPicPr>
          <p:nvPr/>
        </p:nvPicPr>
        <p:blipFill>
          <a:blip r:embed="rId4"/>
          <a:stretch>
            <a:fillRect/>
          </a:stretch>
        </p:blipFill>
        <p:spPr>
          <a:xfrm>
            <a:off x="361861" y="3086358"/>
            <a:ext cx="5248107" cy="2793061"/>
          </a:xfrm>
          <a:prstGeom prst="rect">
            <a:avLst/>
          </a:prstGeom>
        </p:spPr>
      </p:pic>
      <p:pic>
        <p:nvPicPr>
          <p:cNvPr id="6" name="Imagen 5">
            <a:extLst>
              <a:ext uri="{FF2B5EF4-FFF2-40B4-BE49-F238E27FC236}">
                <a16:creationId xmlns:a16="http://schemas.microsoft.com/office/drawing/2014/main" id="{6FC67204-7ACF-4E05-A37E-8E6E5F3AE9AD}"/>
              </a:ext>
            </a:extLst>
          </p:cNvPr>
          <p:cNvPicPr>
            <a:picLocks noChangeAspect="1"/>
          </p:cNvPicPr>
          <p:nvPr/>
        </p:nvPicPr>
        <p:blipFill>
          <a:blip r:embed="rId5"/>
          <a:stretch>
            <a:fillRect/>
          </a:stretch>
        </p:blipFill>
        <p:spPr>
          <a:xfrm>
            <a:off x="6605741" y="1792290"/>
            <a:ext cx="4862161" cy="1182688"/>
          </a:xfrm>
          <a:prstGeom prst="rect">
            <a:avLst/>
          </a:prstGeom>
        </p:spPr>
      </p:pic>
      <p:pic>
        <p:nvPicPr>
          <p:cNvPr id="7" name="Imagen 6">
            <a:extLst>
              <a:ext uri="{FF2B5EF4-FFF2-40B4-BE49-F238E27FC236}">
                <a16:creationId xmlns:a16="http://schemas.microsoft.com/office/drawing/2014/main" id="{755EC37F-88AE-4843-A386-4A6873C69772}"/>
              </a:ext>
            </a:extLst>
          </p:cNvPr>
          <p:cNvPicPr>
            <a:picLocks noChangeAspect="1"/>
          </p:cNvPicPr>
          <p:nvPr/>
        </p:nvPicPr>
        <p:blipFill>
          <a:blip r:embed="rId6"/>
          <a:stretch>
            <a:fillRect/>
          </a:stretch>
        </p:blipFill>
        <p:spPr>
          <a:xfrm>
            <a:off x="6206579" y="3463586"/>
            <a:ext cx="5623560" cy="838874"/>
          </a:xfrm>
          <a:prstGeom prst="rect">
            <a:avLst/>
          </a:prstGeom>
        </p:spPr>
      </p:pic>
      <p:pic>
        <p:nvPicPr>
          <p:cNvPr id="9" name="Imagen 8">
            <a:extLst>
              <a:ext uri="{FF2B5EF4-FFF2-40B4-BE49-F238E27FC236}">
                <a16:creationId xmlns:a16="http://schemas.microsoft.com/office/drawing/2014/main" id="{89BA34F1-7D1D-4D77-9F8B-E978D7C3626B}"/>
              </a:ext>
            </a:extLst>
          </p:cNvPr>
          <p:cNvPicPr>
            <a:picLocks noChangeAspect="1"/>
          </p:cNvPicPr>
          <p:nvPr/>
        </p:nvPicPr>
        <p:blipFill>
          <a:blip r:embed="rId7"/>
          <a:stretch>
            <a:fillRect/>
          </a:stretch>
        </p:blipFill>
        <p:spPr>
          <a:xfrm>
            <a:off x="8139046" y="4726857"/>
            <a:ext cx="1647505" cy="1863843"/>
          </a:xfrm>
          <a:prstGeom prst="rect">
            <a:avLst/>
          </a:prstGeom>
        </p:spPr>
      </p:pic>
    </p:spTree>
    <p:extLst>
      <p:ext uri="{BB962C8B-B14F-4D97-AF65-F5344CB8AC3E}">
        <p14:creationId xmlns:p14="http://schemas.microsoft.com/office/powerpoint/2010/main" val="1739455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MAXIMIZACIÓN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10</a:t>
            </a:fld>
            <a:endParaRPr/>
          </a:p>
        </p:txBody>
      </p:sp>
      <p:pic>
        <p:nvPicPr>
          <p:cNvPr id="2" name="Imagen 1">
            <a:extLst>
              <a:ext uri="{FF2B5EF4-FFF2-40B4-BE49-F238E27FC236}">
                <a16:creationId xmlns:a16="http://schemas.microsoft.com/office/drawing/2014/main" id="{1C967D6B-3AAB-497A-BD69-AD5F59896DFF}"/>
              </a:ext>
            </a:extLst>
          </p:cNvPr>
          <p:cNvPicPr>
            <a:picLocks noChangeAspect="1"/>
          </p:cNvPicPr>
          <p:nvPr/>
        </p:nvPicPr>
        <p:blipFill>
          <a:blip r:embed="rId3"/>
          <a:stretch>
            <a:fillRect/>
          </a:stretch>
        </p:blipFill>
        <p:spPr>
          <a:xfrm>
            <a:off x="658555" y="1769286"/>
            <a:ext cx="3221467" cy="4008104"/>
          </a:xfrm>
          <a:prstGeom prst="rect">
            <a:avLst/>
          </a:prstGeom>
        </p:spPr>
      </p:pic>
      <p:pic>
        <p:nvPicPr>
          <p:cNvPr id="3" name="Imagen 2">
            <a:extLst>
              <a:ext uri="{FF2B5EF4-FFF2-40B4-BE49-F238E27FC236}">
                <a16:creationId xmlns:a16="http://schemas.microsoft.com/office/drawing/2014/main" id="{642941D1-E6BA-419B-BCE5-EE76E1CA6A14}"/>
              </a:ext>
            </a:extLst>
          </p:cNvPr>
          <p:cNvPicPr>
            <a:picLocks noChangeAspect="1"/>
          </p:cNvPicPr>
          <p:nvPr/>
        </p:nvPicPr>
        <p:blipFill>
          <a:blip r:embed="rId4"/>
          <a:stretch>
            <a:fillRect/>
          </a:stretch>
        </p:blipFill>
        <p:spPr>
          <a:xfrm>
            <a:off x="5647396" y="1690688"/>
            <a:ext cx="3343972" cy="2238761"/>
          </a:xfrm>
          <a:prstGeom prst="rect">
            <a:avLst/>
          </a:prstGeom>
        </p:spPr>
      </p:pic>
      <p:pic>
        <p:nvPicPr>
          <p:cNvPr id="8" name="Imagen 7">
            <a:extLst>
              <a:ext uri="{FF2B5EF4-FFF2-40B4-BE49-F238E27FC236}">
                <a16:creationId xmlns:a16="http://schemas.microsoft.com/office/drawing/2014/main" id="{7055A7DB-CFFE-4363-8F2C-CB503CD052C3}"/>
              </a:ext>
            </a:extLst>
          </p:cNvPr>
          <p:cNvPicPr>
            <a:picLocks noChangeAspect="1"/>
          </p:cNvPicPr>
          <p:nvPr/>
        </p:nvPicPr>
        <p:blipFill>
          <a:blip r:embed="rId5"/>
          <a:stretch>
            <a:fillRect/>
          </a:stretch>
        </p:blipFill>
        <p:spPr>
          <a:xfrm>
            <a:off x="5676090" y="4262704"/>
            <a:ext cx="5074288" cy="2338584"/>
          </a:xfrm>
          <a:prstGeom prst="rect">
            <a:avLst/>
          </a:prstGeom>
        </p:spPr>
      </p:pic>
    </p:spTree>
    <p:extLst>
      <p:ext uri="{BB962C8B-B14F-4D97-AF65-F5344CB8AC3E}">
        <p14:creationId xmlns:p14="http://schemas.microsoft.com/office/powerpoint/2010/main" val="3781668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MAXIMIZACIÓN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11</a:t>
            </a:fld>
            <a:endParaRPr/>
          </a:p>
        </p:txBody>
      </p:sp>
      <p:pic>
        <p:nvPicPr>
          <p:cNvPr id="4" name="Imagen 3">
            <a:extLst>
              <a:ext uri="{FF2B5EF4-FFF2-40B4-BE49-F238E27FC236}">
                <a16:creationId xmlns:a16="http://schemas.microsoft.com/office/drawing/2014/main" id="{ACCB7E0B-0FDE-4117-9EC5-0864152FF1ED}"/>
              </a:ext>
            </a:extLst>
          </p:cNvPr>
          <p:cNvPicPr>
            <a:picLocks noChangeAspect="1"/>
          </p:cNvPicPr>
          <p:nvPr/>
        </p:nvPicPr>
        <p:blipFill>
          <a:blip r:embed="rId3"/>
          <a:stretch>
            <a:fillRect/>
          </a:stretch>
        </p:blipFill>
        <p:spPr>
          <a:xfrm rot="5400000">
            <a:off x="3687582" y="-1223628"/>
            <a:ext cx="4964028" cy="10792661"/>
          </a:xfrm>
          <a:prstGeom prst="rect">
            <a:avLst/>
          </a:prstGeom>
        </p:spPr>
      </p:pic>
    </p:spTree>
    <p:extLst>
      <p:ext uri="{BB962C8B-B14F-4D97-AF65-F5344CB8AC3E}">
        <p14:creationId xmlns:p14="http://schemas.microsoft.com/office/powerpoint/2010/main" val="1637250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MAXIMIZACIÓN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12</a:t>
            </a:fld>
            <a:endParaRPr/>
          </a:p>
        </p:txBody>
      </p:sp>
      <p:pic>
        <p:nvPicPr>
          <p:cNvPr id="2" name="Imagen 1">
            <a:extLst>
              <a:ext uri="{FF2B5EF4-FFF2-40B4-BE49-F238E27FC236}">
                <a16:creationId xmlns:a16="http://schemas.microsoft.com/office/drawing/2014/main" id="{36BAF5A5-8D12-466D-A29B-39357DE1F495}"/>
              </a:ext>
            </a:extLst>
          </p:cNvPr>
          <p:cNvPicPr>
            <a:picLocks noChangeAspect="1"/>
          </p:cNvPicPr>
          <p:nvPr/>
        </p:nvPicPr>
        <p:blipFill>
          <a:blip r:embed="rId3"/>
          <a:stretch>
            <a:fillRect/>
          </a:stretch>
        </p:blipFill>
        <p:spPr>
          <a:xfrm>
            <a:off x="650298" y="1919153"/>
            <a:ext cx="10891403" cy="3175911"/>
          </a:xfrm>
          <a:prstGeom prst="rect">
            <a:avLst/>
          </a:prstGeom>
        </p:spPr>
      </p:pic>
    </p:spTree>
    <p:extLst>
      <p:ext uri="{BB962C8B-B14F-4D97-AF65-F5344CB8AC3E}">
        <p14:creationId xmlns:p14="http://schemas.microsoft.com/office/powerpoint/2010/main" val="2297606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MAXIMIZACIÓN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13</a:t>
            </a:fld>
            <a:endParaRPr/>
          </a:p>
        </p:txBody>
      </p:sp>
      <p:sp>
        <p:nvSpPr>
          <p:cNvPr id="6" name="Google Shape;97;p2">
            <a:extLst>
              <a:ext uri="{FF2B5EF4-FFF2-40B4-BE49-F238E27FC236}">
                <a16:creationId xmlns:a16="http://schemas.microsoft.com/office/drawing/2014/main" id="{A67D97FF-D89D-4A4F-ACCE-5C60B7395B4F}"/>
              </a:ext>
            </a:extLst>
          </p:cNvPr>
          <p:cNvSpPr txBox="1">
            <a:spLocks noGrp="1"/>
          </p:cNvSpPr>
          <p:nvPr>
            <p:ph type="body" idx="1"/>
          </p:nvPr>
        </p:nvSpPr>
        <p:spPr>
          <a:xfrm>
            <a:off x="68713" y="1424647"/>
            <a:ext cx="11843200" cy="5296827"/>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Si un problema primo tiene soluciones optimas múltiples; su respectivo dual tiene solución degenerada (por lo menos una variable básica en la solución toma valor de cero).</a:t>
            </a:r>
          </a:p>
          <a:p>
            <a:pPr marL="228600" lvl="0" indent="-228600">
              <a:spcBef>
                <a:spcPts val="0"/>
              </a:spcBef>
              <a:buSzPts val="2800"/>
            </a:pPr>
            <a:r>
              <a:rPr lang="es-ES" dirty="0"/>
              <a:t>La compañía Hierro Colado dispone semanalmente para la fabricación de sus artículos de 350 metros de lámina y 360 metros de ángulo. Además, se ha establecido que con esos recursos se fabrican puertas y ventanas para los cuales se ha determinado que rinden una contribución a las utilidades de 70 y 50 pesos por unidad respectivamente. También, se sabe por medio de un estudio de consumo de materiales que una puerta requieren 7 metros de lámina y 4 metros de ángulo y que una ventana requieren 5 metros de lámina y 9 metros de ángulo. ¿Qué cantidad de cada articulo se debe fabricar? si se sabe que el departamento de mercados estableció que máximo se venderán 40 puertas.</a:t>
            </a:r>
            <a:endParaRPr dirty="0"/>
          </a:p>
        </p:txBody>
      </p:sp>
    </p:spTree>
    <p:extLst>
      <p:ext uri="{BB962C8B-B14F-4D97-AF65-F5344CB8AC3E}">
        <p14:creationId xmlns:p14="http://schemas.microsoft.com/office/powerpoint/2010/main" val="1304511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MAXIMIZACIÓN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14</a:t>
            </a:fld>
            <a:endParaRPr/>
          </a:p>
        </p:txBody>
      </p:sp>
      <p:pic>
        <p:nvPicPr>
          <p:cNvPr id="4" name="Imagen 3">
            <a:extLst>
              <a:ext uri="{FF2B5EF4-FFF2-40B4-BE49-F238E27FC236}">
                <a16:creationId xmlns:a16="http://schemas.microsoft.com/office/drawing/2014/main" id="{DA895562-AB2F-491C-B9C0-D1D1F556D339}"/>
              </a:ext>
            </a:extLst>
          </p:cNvPr>
          <p:cNvPicPr>
            <a:picLocks noChangeAspect="1"/>
          </p:cNvPicPr>
          <p:nvPr/>
        </p:nvPicPr>
        <p:blipFill>
          <a:blip r:embed="rId3"/>
          <a:stretch>
            <a:fillRect/>
          </a:stretch>
        </p:blipFill>
        <p:spPr>
          <a:xfrm>
            <a:off x="245200" y="1847705"/>
            <a:ext cx="5850800" cy="952802"/>
          </a:xfrm>
          <a:prstGeom prst="rect">
            <a:avLst/>
          </a:prstGeom>
        </p:spPr>
      </p:pic>
      <p:pic>
        <p:nvPicPr>
          <p:cNvPr id="5" name="Imagen 4">
            <a:extLst>
              <a:ext uri="{FF2B5EF4-FFF2-40B4-BE49-F238E27FC236}">
                <a16:creationId xmlns:a16="http://schemas.microsoft.com/office/drawing/2014/main" id="{8A79C07B-3C13-49E9-B360-56B93C95CADD}"/>
              </a:ext>
            </a:extLst>
          </p:cNvPr>
          <p:cNvPicPr>
            <a:picLocks noChangeAspect="1"/>
          </p:cNvPicPr>
          <p:nvPr/>
        </p:nvPicPr>
        <p:blipFill>
          <a:blip r:embed="rId4"/>
          <a:stretch>
            <a:fillRect/>
          </a:stretch>
        </p:blipFill>
        <p:spPr>
          <a:xfrm>
            <a:off x="245200" y="3299519"/>
            <a:ext cx="6089386" cy="2532870"/>
          </a:xfrm>
          <a:prstGeom prst="rect">
            <a:avLst/>
          </a:prstGeom>
        </p:spPr>
      </p:pic>
      <p:pic>
        <p:nvPicPr>
          <p:cNvPr id="7" name="Imagen 6">
            <a:extLst>
              <a:ext uri="{FF2B5EF4-FFF2-40B4-BE49-F238E27FC236}">
                <a16:creationId xmlns:a16="http://schemas.microsoft.com/office/drawing/2014/main" id="{E693D4C7-1D5C-4143-9B5A-D40302D3ACB1}"/>
              </a:ext>
            </a:extLst>
          </p:cNvPr>
          <p:cNvPicPr>
            <a:picLocks noChangeAspect="1"/>
          </p:cNvPicPr>
          <p:nvPr/>
        </p:nvPicPr>
        <p:blipFill>
          <a:blip r:embed="rId5"/>
          <a:stretch>
            <a:fillRect/>
          </a:stretch>
        </p:blipFill>
        <p:spPr>
          <a:xfrm>
            <a:off x="6771503" y="1763108"/>
            <a:ext cx="3982788" cy="2891850"/>
          </a:xfrm>
          <a:prstGeom prst="rect">
            <a:avLst/>
          </a:prstGeom>
        </p:spPr>
      </p:pic>
      <p:pic>
        <p:nvPicPr>
          <p:cNvPr id="9" name="Imagen 8">
            <a:extLst>
              <a:ext uri="{FF2B5EF4-FFF2-40B4-BE49-F238E27FC236}">
                <a16:creationId xmlns:a16="http://schemas.microsoft.com/office/drawing/2014/main" id="{438B946E-B8B5-4075-AF6E-F979FAD3FE30}"/>
              </a:ext>
            </a:extLst>
          </p:cNvPr>
          <p:cNvPicPr>
            <a:picLocks noChangeAspect="1"/>
          </p:cNvPicPr>
          <p:nvPr/>
        </p:nvPicPr>
        <p:blipFill>
          <a:blip r:embed="rId6"/>
          <a:stretch>
            <a:fillRect/>
          </a:stretch>
        </p:blipFill>
        <p:spPr>
          <a:xfrm>
            <a:off x="6771503" y="5027590"/>
            <a:ext cx="4766144" cy="478064"/>
          </a:xfrm>
          <a:prstGeom prst="rect">
            <a:avLst/>
          </a:prstGeom>
        </p:spPr>
      </p:pic>
    </p:spTree>
    <p:extLst>
      <p:ext uri="{BB962C8B-B14F-4D97-AF65-F5344CB8AC3E}">
        <p14:creationId xmlns:p14="http://schemas.microsoft.com/office/powerpoint/2010/main" val="2217717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MAXIMIZACIÓN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15</a:t>
            </a:fld>
            <a:endParaRPr/>
          </a:p>
        </p:txBody>
      </p:sp>
      <p:pic>
        <p:nvPicPr>
          <p:cNvPr id="2" name="Imagen 1">
            <a:extLst>
              <a:ext uri="{FF2B5EF4-FFF2-40B4-BE49-F238E27FC236}">
                <a16:creationId xmlns:a16="http://schemas.microsoft.com/office/drawing/2014/main" id="{CA585179-781D-47AD-BFDB-D649394C9373}"/>
              </a:ext>
            </a:extLst>
          </p:cNvPr>
          <p:cNvPicPr>
            <a:picLocks noChangeAspect="1"/>
          </p:cNvPicPr>
          <p:nvPr/>
        </p:nvPicPr>
        <p:blipFill>
          <a:blip r:embed="rId3"/>
          <a:stretch>
            <a:fillRect/>
          </a:stretch>
        </p:blipFill>
        <p:spPr>
          <a:xfrm>
            <a:off x="838200" y="1987250"/>
            <a:ext cx="10727762" cy="3611152"/>
          </a:xfrm>
          <a:prstGeom prst="rect">
            <a:avLst/>
          </a:prstGeom>
        </p:spPr>
      </p:pic>
    </p:spTree>
    <p:extLst>
      <p:ext uri="{BB962C8B-B14F-4D97-AF65-F5344CB8AC3E}">
        <p14:creationId xmlns:p14="http://schemas.microsoft.com/office/powerpoint/2010/main" val="575385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MAXIMIZACIÓN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16</a:t>
            </a:fld>
            <a:endParaRPr/>
          </a:p>
        </p:txBody>
      </p:sp>
      <p:pic>
        <p:nvPicPr>
          <p:cNvPr id="3" name="Imagen 2">
            <a:extLst>
              <a:ext uri="{FF2B5EF4-FFF2-40B4-BE49-F238E27FC236}">
                <a16:creationId xmlns:a16="http://schemas.microsoft.com/office/drawing/2014/main" id="{32459E08-D709-400C-B1B9-4591C80B6A70}"/>
              </a:ext>
            </a:extLst>
          </p:cNvPr>
          <p:cNvPicPr>
            <a:picLocks noChangeAspect="1"/>
          </p:cNvPicPr>
          <p:nvPr/>
        </p:nvPicPr>
        <p:blipFill>
          <a:blip r:embed="rId3"/>
          <a:stretch>
            <a:fillRect/>
          </a:stretch>
        </p:blipFill>
        <p:spPr>
          <a:xfrm rot="5400000">
            <a:off x="3616093" y="-1073222"/>
            <a:ext cx="4959813" cy="10193483"/>
          </a:xfrm>
          <a:prstGeom prst="rect">
            <a:avLst/>
          </a:prstGeom>
        </p:spPr>
      </p:pic>
    </p:spTree>
    <p:extLst>
      <p:ext uri="{BB962C8B-B14F-4D97-AF65-F5344CB8AC3E}">
        <p14:creationId xmlns:p14="http://schemas.microsoft.com/office/powerpoint/2010/main" val="2576695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MAXIMIZACIÓN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17</a:t>
            </a:fld>
            <a:endParaRPr/>
          </a:p>
        </p:txBody>
      </p:sp>
      <p:sp>
        <p:nvSpPr>
          <p:cNvPr id="6" name="Google Shape;97;p2">
            <a:extLst>
              <a:ext uri="{FF2B5EF4-FFF2-40B4-BE49-F238E27FC236}">
                <a16:creationId xmlns:a16="http://schemas.microsoft.com/office/drawing/2014/main" id="{A67D97FF-D89D-4A4F-ACCE-5C60B7395B4F}"/>
              </a:ext>
            </a:extLst>
          </p:cNvPr>
          <p:cNvSpPr txBox="1">
            <a:spLocks noGrp="1"/>
          </p:cNvSpPr>
          <p:nvPr>
            <p:ph type="body" idx="1"/>
          </p:nvPr>
        </p:nvSpPr>
        <p:spPr>
          <a:xfrm>
            <a:off x="68713" y="1769286"/>
            <a:ext cx="11843200" cy="495218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Si un problema primo tiene soluciones optimas múltiples; su respectivo dual tiene solución degenerada (por lo menos una variable básica en la solución toma valor de cero).</a:t>
            </a:r>
          </a:p>
          <a:p>
            <a:pPr marL="228600" lvl="0" indent="-228600">
              <a:spcBef>
                <a:spcPts val="0"/>
              </a:spcBef>
              <a:buSzPts val="2800"/>
            </a:pPr>
            <a:r>
              <a:rPr lang="es-ES" dirty="0"/>
              <a:t>Cuando un problema primo genera solución no acotada; al resolver su correspondiente dual, éste presentará un problema sin solución.</a:t>
            </a:r>
          </a:p>
          <a:p>
            <a:pPr marL="228600" lvl="0" indent="-228600">
              <a:spcBef>
                <a:spcPts val="0"/>
              </a:spcBef>
              <a:buSzPts val="2800"/>
            </a:pPr>
            <a:r>
              <a:rPr lang="es-ES" dirty="0"/>
              <a:t>Un problema primo que no tenga solución; su respectivo dual debe generar un problema con solución no acotada.</a:t>
            </a:r>
            <a:endParaRPr dirty="0"/>
          </a:p>
        </p:txBody>
      </p:sp>
    </p:spTree>
    <p:extLst>
      <p:ext uri="{BB962C8B-B14F-4D97-AF65-F5344CB8AC3E}">
        <p14:creationId xmlns:p14="http://schemas.microsoft.com/office/powerpoint/2010/main" val="2650203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MINIMIZACIÓN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18</a:t>
            </a:fld>
            <a:endParaRPr/>
          </a:p>
        </p:txBody>
      </p:sp>
      <p:sp>
        <p:nvSpPr>
          <p:cNvPr id="6" name="Google Shape;97;p2">
            <a:extLst>
              <a:ext uri="{FF2B5EF4-FFF2-40B4-BE49-F238E27FC236}">
                <a16:creationId xmlns:a16="http://schemas.microsoft.com/office/drawing/2014/main" id="{A67D97FF-D89D-4A4F-ACCE-5C60B7395B4F}"/>
              </a:ext>
            </a:extLst>
          </p:cNvPr>
          <p:cNvSpPr txBox="1">
            <a:spLocks noGrp="1"/>
          </p:cNvSpPr>
          <p:nvPr>
            <p:ph type="body" idx="1"/>
          </p:nvPr>
        </p:nvSpPr>
        <p:spPr>
          <a:xfrm>
            <a:off x="68713" y="1769286"/>
            <a:ext cx="11843200" cy="495218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Combustibles </a:t>
            </a:r>
            <a:r>
              <a:rPr lang="es-ES" dirty="0" err="1"/>
              <a:t>Dextra</a:t>
            </a:r>
            <a:r>
              <a:rPr lang="es-ES" dirty="0"/>
              <a:t> produce gasolina y </a:t>
            </a:r>
            <a:r>
              <a:rPr lang="es-ES" dirty="0" err="1"/>
              <a:t>Acpm</a:t>
            </a:r>
            <a:r>
              <a:rPr lang="es-ES" dirty="0"/>
              <a:t> a un costo de 2.000 y 4.000 pesos por galón respectivamente. Mediante un estudio se ha establecido que para producir un galón de gasolina se requiere de 4 horas hombre de trabajo, 6 horas máquina y 8 litros de petróleo; mientras que para producir un galón de </a:t>
            </a:r>
            <a:r>
              <a:rPr lang="es-ES" dirty="0" err="1"/>
              <a:t>Acpm</a:t>
            </a:r>
            <a:r>
              <a:rPr lang="es-ES" dirty="0"/>
              <a:t> se requiere de 8 horas hombre de trabajo, 5 horas maquina y 10 litros de petróleo. Además, se sabe que para que no haya subutilización de los recursos se debe consumir mínimo 320 horas hombre y mínimo 300 horas máquina al mes. ¿Qué cantidad de cada combustible se debe fabricar Si se sabe hay una disponibilidad mensual de 800 litros de petróleo?</a:t>
            </a:r>
            <a:endParaRPr dirty="0"/>
          </a:p>
        </p:txBody>
      </p:sp>
    </p:spTree>
    <p:extLst>
      <p:ext uri="{BB962C8B-B14F-4D97-AF65-F5344CB8AC3E}">
        <p14:creationId xmlns:p14="http://schemas.microsoft.com/office/powerpoint/2010/main" val="2800288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MINIMIZACIÓN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19</a:t>
            </a:fld>
            <a:endParaRPr/>
          </a:p>
        </p:txBody>
      </p:sp>
      <p:pic>
        <p:nvPicPr>
          <p:cNvPr id="4" name="Imagen 3">
            <a:extLst>
              <a:ext uri="{FF2B5EF4-FFF2-40B4-BE49-F238E27FC236}">
                <a16:creationId xmlns:a16="http://schemas.microsoft.com/office/drawing/2014/main" id="{FCEB19AA-6410-4B32-8086-20FF95259837}"/>
              </a:ext>
            </a:extLst>
          </p:cNvPr>
          <p:cNvPicPr>
            <a:picLocks noChangeAspect="1"/>
          </p:cNvPicPr>
          <p:nvPr/>
        </p:nvPicPr>
        <p:blipFill>
          <a:blip r:embed="rId3"/>
          <a:stretch>
            <a:fillRect/>
          </a:stretch>
        </p:blipFill>
        <p:spPr>
          <a:xfrm>
            <a:off x="977275" y="1475764"/>
            <a:ext cx="5492822" cy="831811"/>
          </a:xfrm>
          <a:prstGeom prst="rect">
            <a:avLst/>
          </a:prstGeom>
        </p:spPr>
      </p:pic>
      <p:pic>
        <p:nvPicPr>
          <p:cNvPr id="5" name="Imagen 4">
            <a:extLst>
              <a:ext uri="{FF2B5EF4-FFF2-40B4-BE49-F238E27FC236}">
                <a16:creationId xmlns:a16="http://schemas.microsoft.com/office/drawing/2014/main" id="{D7DEDCE4-22C1-43F3-A770-EB8A8F65C4B4}"/>
              </a:ext>
            </a:extLst>
          </p:cNvPr>
          <p:cNvPicPr>
            <a:picLocks noChangeAspect="1"/>
          </p:cNvPicPr>
          <p:nvPr/>
        </p:nvPicPr>
        <p:blipFill>
          <a:blip r:embed="rId4"/>
          <a:stretch>
            <a:fillRect/>
          </a:stretch>
        </p:blipFill>
        <p:spPr>
          <a:xfrm>
            <a:off x="1653873" y="2486189"/>
            <a:ext cx="3463622" cy="3074659"/>
          </a:xfrm>
          <a:prstGeom prst="rect">
            <a:avLst/>
          </a:prstGeom>
        </p:spPr>
      </p:pic>
    </p:spTree>
    <p:extLst>
      <p:ext uri="{BB962C8B-B14F-4D97-AF65-F5344CB8AC3E}">
        <p14:creationId xmlns:p14="http://schemas.microsoft.com/office/powerpoint/2010/main" val="3780954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MINIMIZACIÓN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20</a:t>
            </a:fld>
            <a:endParaRPr/>
          </a:p>
        </p:txBody>
      </p:sp>
      <p:pic>
        <p:nvPicPr>
          <p:cNvPr id="4" name="Imagen 3">
            <a:extLst>
              <a:ext uri="{FF2B5EF4-FFF2-40B4-BE49-F238E27FC236}">
                <a16:creationId xmlns:a16="http://schemas.microsoft.com/office/drawing/2014/main" id="{FCEB19AA-6410-4B32-8086-20FF95259837}"/>
              </a:ext>
            </a:extLst>
          </p:cNvPr>
          <p:cNvPicPr>
            <a:picLocks noChangeAspect="1"/>
          </p:cNvPicPr>
          <p:nvPr/>
        </p:nvPicPr>
        <p:blipFill>
          <a:blip r:embed="rId3"/>
          <a:stretch>
            <a:fillRect/>
          </a:stretch>
        </p:blipFill>
        <p:spPr>
          <a:xfrm>
            <a:off x="268119" y="1713681"/>
            <a:ext cx="5492822" cy="831811"/>
          </a:xfrm>
          <a:prstGeom prst="rect">
            <a:avLst/>
          </a:prstGeom>
        </p:spPr>
      </p:pic>
      <p:pic>
        <p:nvPicPr>
          <p:cNvPr id="5" name="Imagen 4">
            <a:extLst>
              <a:ext uri="{FF2B5EF4-FFF2-40B4-BE49-F238E27FC236}">
                <a16:creationId xmlns:a16="http://schemas.microsoft.com/office/drawing/2014/main" id="{D7DEDCE4-22C1-43F3-A770-EB8A8F65C4B4}"/>
              </a:ext>
            </a:extLst>
          </p:cNvPr>
          <p:cNvPicPr>
            <a:picLocks noChangeAspect="1"/>
          </p:cNvPicPr>
          <p:nvPr/>
        </p:nvPicPr>
        <p:blipFill>
          <a:blip r:embed="rId4"/>
          <a:stretch>
            <a:fillRect/>
          </a:stretch>
        </p:blipFill>
        <p:spPr>
          <a:xfrm>
            <a:off x="268119" y="2974967"/>
            <a:ext cx="3463622" cy="3074659"/>
          </a:xfrm>
          <a:prstGeom prst="rect">
            <a:avLst/>
          </a:prstGeom>
        </p:spPr>
      </p:pic>
      <p:pic>
        <p:nvPicPr>
          <p:cNvPr id="7" name="Imagen 6">
            <a:extLst>
              <a:ext uri="{FF2B5EF4-FFF2-40B4-BE49-F238E27FC236}">
                <a16:creationId xmlns:a16="http://schemas.microsoft.com/office/drawing/2014/main" id="{0E382AFC-B022-4AC0-B73F-BBE4D2E1A0DE}"/>
              </a:ext>
            </a:extLst>
          </p:cNvPr>
          <p:cNvPicPr>
            <a:picLocks noChangeAspect="1"/>
          </p:cNvPicPr>
          <p:nvPr/>
        </p:nvPicPr>
        <p:blipFill>
          <a:blip r:embed="rId5"/>
          <a:stretch>
            <a:fillRect/>
          </a:stretch>
        </p:blipFill>
        <p:spPr>
          <a:xfrm>
            <a:off x="6638649" y="1690688"/>
            <a:ext cx="3172615" cy="2069096"/>
          </a:xfrm>
          <a:prstGeom prst="rect">
            <a:avLst/>
          </a:prstGeom>
        </p:spPr>
      </p:pic>
      <p:pic>
        <p:nvPicPr>
          <p:cNvPr id="8" name="Imagen 7">
            <a:extLst>
              <a:ext uri="{FF2B5EF4-FFF2-40B4-BE49-F238E27FC236}">
                <a16:creationId xmlns:a16="http://schemas.microsoft.com/office/drawing/2014/main" id="{A24B5B7E-CC17-4746-8D52-6E1FE2E6D747}"/>
              </a:ext>
            </a:extLst>
          </p:cNvPr>
          <p:cNvPicPr>
            <a:picLocks noChangeAspect="1"/>
          </p:cNvPicPr>
          <p:nvPr/>
        </p:nvPicPr>
        <p:blipFill>
          <a:blip r:embed="rId6"/>
          <a:stretch>
            <a:fillRect/>
          </a:stretch>
        </p:blipFill>
        <p:spPr>
          <a:xfrm>
            <a:off x="6667229" y="3928889"/>
            <a:ext cx="3246888" cy="2069096"/>
          </a:xfrm>
          <a:prstGeom prst="rect">
            <a:avLst/>
          </a:prstGeom>
        </p:spPr>
      </p:pic>
    </p:spTree>
    <p:extLst>
      <p:ext uri="{BB962C8B-B14F-4D97-AF65-F5344CB8AC3E}">
        <p14:creationId xmlns:p14="http://schemas.microsoft.com/office/powerpoint/2010/main" val="594810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MINIMIZACIÓN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21</a:t>
            </a:fld>
            <a:endParaRPr/>
          </a:p>
        </p:txBody>
      </p:sp>
      <p:pic>
        <p:nvPicPr>
          <p:cNvPr id="2" name="Imagen 1">
            <a:extLst>
              <a:ext uri="{FF2B5EF4-FFF2-40B4-BE49-F238E27FC236}">
                <a16:creationId xmlns:a16="http://schemas.microsoft.com/office/drawing/2014/main" id="{C4D9747B-3F31-43B5-8A6D-001954E156D9}"/>
              </a:ext>
            </a:extLst>
          </p:cNvPr>
          <p:cNvPicPr>
            <a:picLocks noChangeAspect="1"/>
          </p:cNvPicPr>
          <p:nvPr/>
        </p:nvPicPr>
        <p:blipFill>
          <a:blip r:embed="rId3"/>
          <a:stretch>
            <a:fillRect/>
          </a:stretch>
        </p:blipFill>
        <p:spPr>
          <a:xfrm>
            <a:off x="773266" y="1718881"/>
            <a:ext cx="10144337" cy="3484695"/>
          </a:xfrm>
          <a:prstGeom prst="rect">
            <a:avLst/>
          </a:prstGeom>
        </p:spPr>
      </p:pic>
    </p:spTree>
    <p:extLst>
      <p:ext uri="{BB962C8B-B14F-4D97-AF65-F5344CB8AC3E}">
        <p14:creationId xmlns:p14="http://schemas.microsoft.com/office/powerpoint/2010/main" val="3032620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PROBLEMAS DE MINIMIZACIÓN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22</a:t>
            </a:fld>
            <a:endParaRPr/>
          </a:p>
        </p:txBody>
      </p:sp>
      <p:pic>
        <p:nvPicPr>
          <p:cNvPr id="3" name="Imagen 2">
            <a:extLst>
              <a:ext uri="{FF2B5EF4-FFF2-40B4-BE49-F238E27FC236}">
                <a16:creationId xmlns:a16="http://schemas.microsoft.com/office/drawing/2014/main" id="{11B6EF92-113B-461C-A4EE-31A9DF30CA8A}"/>
              </a:ext>
            </a:extLst>
          </p:cNvPr>
          <p:cNvPicPr>
            <a:picLocks noChangeAspect="1"/>
          </p:cNvPicPr>
          <p:nvPr/>
        </p:nvPicPr>
        <p:blipFill>
          <a:blip r:embed="rId3"/>
          <a:stretch>
            <a:fillRect/>
          </a:stretch>
        </p:blipFill>
        <p:spPr>
          <a:xfrm>
            <a:off x="1153123" y="1621523"/>
            <a:ext cx="9646682" cy="4339145"/>
          </a:xfrm>
          <a:prstGeom prst="rect">
            <a:avLst/>
          </a:prstGeom>
        </p:spPr>
      </p:pic>
    </p:spTree>
    <p:extLst>
      <p:ext uri="{BB962C8B-B14F-4D97-AF65-F5344CB8AC3E}">
        <p14:creationId xmlns:p14="http://schemas.microsoft.com/office/powerpoint/2010/main" val="1548004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RESTRICCIONES DE IGUALDAD</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23</a:t>
            </a:fld>
            <a:endParaRPr/>
          </a:p>
        </p:txBody>
      </p:sp>
      <p:sp>
        <p:nvSpPr>
          <p:cNvPr id="6" name="Google Shape;97;p2">
            <a:extLst>
              <a:ext uri="{FF2B5EF4-FFF2-40B4-BE49-F238E27FC236}">
                <a16:creationId xmlns:a16="http://schemas.microsoft.com/office/drawing/2014/main" id="{D590AE32-A514-48FD-BF0C-DD0B7B2C5EED}"/>
              </a:ext>
            </a:extLst>
          </p:cNvPr>
          <p:cNvSpPr txBox="1">
            <a:spLocks noGrp="1"/>
          </p:cNvSpPr>
          <p:nvPr>
            <p:ph type="body" idx="1"/>
          </p:nvPr>
        </p:nvSpPr>
        <p:spPr>
          <a:xfrm>
            <a:off x="348800" y="1675387"/>
            <a:ext cx="11843200" cy="495218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Cierta compañía transportadora dispone de 12 camionetas y 6 camiones para el transporte de su producto. Actualmente la compañía debe entregar 80 toneladas de su producto y se sabe que una camioneta tiene capacidad para transportar 8 toneladas, mientras que un camión puede transportar 10 toneladas; además, se sabe que el costo que se genera por asignar una camioneta es de $3 por kilómetro y por asignar un camión es de $5 por kilómetro. ¿Qué cantidad de cada tipo de vehículo se debe asignar, si se sabe que la distancia a recorrer es de 100 kilómetros y que por cada camión dejado en reserva, se debe dejar mínimo una camioneta en reserva?</a:t>
            </a:r>
            <a:endParaRPr dirty="0"/>
          </a:p>
        </p:txBody>
      </p:sp>
    </p:spTree>
    <p:extLst>
      <p:ext uri="{BB962C8B-B14F-4D97-AF65-F5344CB8AC3E}">
        <p14:creationId xmlns:p14="http://schemas.microsoft.com/office/powerpoint/2010/main" val="3600045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RESTRICCIONES DE IGUALDAD</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24</a:t>
            </a:fld>
            <a:endParaRPr/>
          </a:p>
        </p:txBody>
      </p:sp>
      <p:pic>
        <p:nvPicPr>
          <p:cNvPr id="4" name="Imagen 3">
            <a:extLst>
              <a:ext uri="{FF2B5EF4-FFF2-40B4-BE49-F238E27FC236}">
                <a16:creationId xmlns:a16="http://schemas.microsoft.com/office/drawing/2014/main" id="{1B0D5F3F-97A6-4EC4-9DBB-0063629F49E4}"/>
              </a:ext>
            </a:extLst>
          </p:cNvPr>
          <p:cNvPicPr>
            <a:picLocks noChangeAspect="1"/>
          </p:cNvPicPr>
          <p:nvPr/>
        </p:nvPicPr>
        <p:blipFill>
          <a:blip r:embed="rId3"/>
          <a:stretch>
            <a:fillRect/>
          </a:stretch>
        </p:blipFill>
        <p:spPr>
          <a:xfrm>
            <a:off x="343174" y="1581043"/>
            <a:ext cx="4639547" cy="952607"/>
          </a:xfrm>
          <a:prstGeom prst="rect">
            <a:avLst/>
          </a:prstGeom>
        </p:spPr>
      </p:pic>
      <p:pic>
        <p:nvPicPr>
          <p:cNvPr id="5" name="Imagen 4">
            <a:extLst>
              <a:ext uri="{FF2B5EF4-FFF2-40B4-BE49-F238E27FC236}">
                <a16:creationId xmlns:a16="http://schemas.microsoft.com/office/drawing/2014/main" id="{1D64B11D-9E0A-40DE-ACE5-19E50EDA0F05}"/>
              </a:ext>
            </a:extLst>
          </p:cNvPr>
          <p:cNvPicPr>
            <a:picLocks noChangeAspect="1"/>
          </p:cNvPicPr>
          <p:nvPr/>
        </p:nvPicPr>
        <p:blipFill>
          <a:blip r:embed="rId4"/>
          <a:stretch>
            <a:fillRect/>
          </a:stretch>
        </p:blipFill>
        <p:spPr>
          <a:xfrm>
            <a:off x="343174" y="2622513"/>
            <a:ext cx="5996236" cy="2725562"/>
          </a:xfrm>
          <a:prstGeom prst="rect">
            <a:avLst/>
          </a:prstGeom>
        </p:spPr>
      </p:pic>
    </p:spTree>
    <p:extLst>
      <p:ext uri="{BB962C8B-B14F-4D97-AF65-F5344CB8AC3E}">
        <p14:creationId xmlns:p14="http://schemas.microsoft.com/office/powerpoint/2010/main" val="4271749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RESTRICCIONES DE IGUALDAD</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25</a:t>
            </a:fld>
            <a:endParaRPr/>
          </a:p>
        </p:txBody>
      </p:sp>
      <p:pic>
        <p:nvPicPr>
          <p:cNvPr id="4" name="Imagen 3">
            <a:extLst>
              <a:ext uri="{FF2B5EF4-FFF2-40B4-BE49-F238E27FC236}">
                <a16:creationId xmlns:a16="http://schemas.microsoft.com/office/drawing/2014/main" id="{1B0D5F3F-97A6-4EC4-9DBB-0063629F49E4}"/>
              </a:ext>
            </a:extLst>
          </p:cNvPr>
          <p:cNvPicPr>
            <a:picLocks noChangeAspect="1"/>
          </p:cNvPicPr>
          <p:nvPr/>
        </p:nvPicPr>
        <p:blipFill>
          <a:blip r:embed="rId3"/>
          <a:stretch>
            <a:fillRect/>
          </a:stretch>
        </p:blipFill>
        <p:spPr>
          <a:xfrm>
            <a:off x="343174" y="1581043"/>
            <a:ext cx="5752826" cy="1181189"/>
          </a:xfrm>
          <a:prstGeom prst="rect">
            <a:avLst/>
          </a:prstGeom>
        </p:spPr>
      </p:pic>
      <p:pic>
        <p:nvPicPr>
          <p:cNvPr id="5" name="Imagen 4">
            <a:extLst>
              <a:ext uri="{FF2B5EF4-FFF2-40B4-BE49-F238E27FC236}">
                <a16:creationId xmlns:a16="http://schemas.microsoft.com/office/drawing/2014/main" id="{1D64B11D-9E0A-40DE-ACE5-19E50EDA0F05}"/>
              </a:ext>
            </a:extLst>
          </p:cNvPr>
          <p:cNvPicPr>
            <a:picLocks noChangeAspect="1"/>
          </p:cNvPicPr>
          <p:nvPr/>
        </p:nvPicPr>
        <p:blipFill>
          <a:blip r:embed="rId4"/>
          <a:stretch>
            <a:fillRect/>
          </a:stretch>
        </p:blipFill>
        <p:spPr>
          <a:xfrm>
            <a:off x="343174" y="3032687"/>
            <a:ext cx="5996236" cy="2725562"/>
          </a:xfrm>
          <a:prstGeom prst="rect">
            <a:avLst/>
          </a:prstGeom>
        </p:spPr>
      </p:pic>
      <p:pic>
        <p:nvPicPr>
          <p:cNvPr id="7" name="Imagen 6">
            <a:extLst>
              <a:ext uri="{FF2B5EF4-FFF2-40B4-BE49-F238E27FC236}">
                <a16:creationId xmlns:a16="http://schemas.microsoft.com/office/drawing/2014/main" id="{B22DF2C1-1CE5-4125-BCB5-05A74A39423F}"/>
              </a:ext>
            </a:extLst>
          </p:cNvPr>
          <p:cNvPicPr>
            <a:picLocks noChangeAspect="1"/>
          </p:cNvPicPr>
          <p:nvPr/>
        </p:nvPicPr>
        <p:blipFill>
          <a:blip r:embed="rId5"/>
          <a:stretch>
            <a:fillRect/>
          </a:stretch>
        </p:blipFill>
        <p:spPr>
          <a:xfrm>
            <a:off x="7331135" y="1883718"/>
            <a:ext cx="3741278" cy="2511750"/>
          </a:xfrm>
          <a:prstGeom prst="rect">
            <a:avLst/>
          </a:prstGeom>
        </p:spPr>
      </p:pic>
      <p:pic>
        <p:nvPicPr>
          <p:cNvPr id="8" name="Imagen 7">
            <a:extLst>
              <a:ext uri="{FF2B5EF4-FFF2-40B4-BE49-F238E27FC236}">
                <a16:creationId xmlns:a16="http://schemas.microsoft.com/office/drawing/2014/main" id="{2E901B10-6A8D-4873-9A82-9981FCD334BA}"/>
              </a:ext>
            </a:extLst>
          </p:cNvPr>
          <p:cNvPicPr>
            <a:picLocks noChangeAspect="1"/>
          </p:cNvPicPr>
          <p:nvPr/>
        </p:nvPicPr>
        <p:blipFill>
          <a:blip r:embed="rId6"/>
          <a:stretch>
            <a:fillRect/>
          </a:stretch>
        </p:blipFill>
        <p:spPr>
          <a:xfrm>
            <a:off x="8258125" y="4631747"/>
            <a:ext cx="1627279" cy="571748"/>
          </a:xfrm>
          <a:prstGeom prst="rect">
            <a:avLst/>
          </a:prstGeom>
        </p:spPr>
      </p:pic>
    </p:spTree>
    <p:extLst>
      <p:ext uri="{BB962C8B-B14F-4D97-AF65-F5344CB8AC3E}">
        <p14:creationId xmlns:p14="http://schemas.microsoft.com/office/powerpoint/2010/main" val="2316738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RESTRICCIONES DE IGUALDAD</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26</a:t>
            </a:fld>
            <a:endParaRPr/>
          </a:p>
        </p:txBody>
      </p:sp>
      <p:pic>
        <p:nvPicPr>
          <p:cNvPr id="2" name="Imagen 1">
            <a:extLst>
              <a:ext uri="{FF2B5EF4-FFF2-40B4-BE49-F238E27FC236}">
                <a16:creationId xmlns:a16="http://schemas.microsoft.com/office/drawing/2014/main" id="{F02DDD7F-9553-4ABD-9D4E-EC22B02CC75B}"/>
              </a:ext>
            </a:extLst>
          </p:cNvPr>
          <p:cNvPicPr>
            <a:picLocks noChangeAspect="1"/>
          </p:cNvPicPr>
          <p:nvPr/>
        </p:nvPicPr>
        <p:blipFill>
          <a:blip r:embed="rId3"/>
          <a:stretch>
            <a:fillRect/>
          </a:stretch>
        </p:blipFill>
        <p:spPr>
          <a:xfrm>
            <a:off x="425229" y="1635083"/>
            <a:ext cx="4334845" cy="2240481"/>
          </a:xfrm>
          <a:prstGeom prst="rect">
            <a:avLst/>
          </a:prstGeom>
        </p:spPr>
      </p:pic>
      <p:pic>
        <p:nvPicPr>
          <p:cNvPr id="3" name="Imagen 2">
            <a:extLst>
              <a:ext uri="{FF2B5EF4-FFF2-40B4-BE49-F238E27FC236}">
                <a16:creationId xmlns:a16="http://schemas.microsoft.com/office/drawing/2014/main" id="{0C471251-A3FD-4468-A13E-854F545745AA}"/>
              </a:ext>
            </a:extLst>
          </p:cNvPr>
          <p:cNvPicPr>
            <a:picLocks noChangeAspect="1"/>
          </p:cNvPicPr>
          <p:nvPr/>
        </p:nvPicPr>
        <p:blipFill>
          <a:blip r:embed="rId4"/>
          <a:stretch>
            <a:fillRect/>
          </a:stretch>
        </p:blipFill>
        <p:spPr>
          <a:xfrm>
            <a:off x="6965511" y="1635083"/>
            <a:ext cx="4448013" cy="2240481"/>
          </a:xfrm>
          <a:prstGeom prst="rect">
            <a:avLst/>
          </a:prstGeom>
        </p:spPr>
      </p:pic>
      <p:pic>
        <p:nvPicPr>
          <p:cNvPr id="6" name="Imagen 5">
            <a:extLst>
              <a:ext uri="{FF2B5EF4-FFF2-40B4-BE49-F238E27FC236}">
                <a16:creationId xmlns:a16="http://schemas.microsoft.com/office/drawing/2014/main" id="{82B350CC-D59D-4022-B6B1-1B0AFA09F295}"/>
              </a:ext>
            </a:extLst>
          </p:cNvPr>
          <p:cNvPicPr>
            <a:picLocks noChangeAspect="1"/>
          </p:cNvPicPr>
          <p:nvPr/>
        </p:nvPicPr>
        <p:blipFill>
          <a:blip r:embed="rId5"/>
          <a:stretch>
            <a:fillRect/>
          </a:stretch>
        </p:blipFill>
        <p:spPr>
          <a:xfrm>
            <a:off x="425229" y="5002647"/>
            <a:ext cx="4079566" cy="434326"/>
          </a:xfrm>
          <a:prstGeom prst="rect">
            <a:avLst/>
          </a:prstGeom>
        </p:spPr>
      </p:pic>
      <p:pic>
        <p:nvPicPr>
          <p:cNvPr id="9" name="Imagen 8">
            <a:extLst>
              <a:ext uri="{FF2B5EF4-FFF2-40B4-BE49-F238E27FC236}">
                <a16:creationId xmlns:a16="http://schemas.microsoft.com/office/drawing/2014/main" id="{628D10B0-D12A-491D-AF87-11AA333E7699}"/>
              </a:ext>
            </a:extLst>
          </p:cNvPr>
          <p:cNvPicPr>
            <a:picLocks noChangeAspect="1"/>
          </p:cNvPicPr>
          <p:nvPr/>
        </p:nvPicPr>
        <p:blipFill>
          <a:blip r:embed="rId6"/>
          <a:stretch>
            <a:fillRect/>
          </a:stretch>
        </p:blipFill>
        <p:spPr>
          <a:xfrm>
            <a:off x="6965511" y="4088175"/>
            <a:ext cx="4933112" cy="1828943"/>
          </a:xfrm>
          <a:prstGeom prst="rect">
            <a:avLst/>
          </a:prstGeom>
        </p:spPr>
      </p:pic>
    </p:spTree>
    <p:extLst>
      <p:ext uri="{BB962C8B-B14F-4D97-AF65-F5344CB8AC3E}">
        <p14:creationId xmlns:p14="http://schemas.microsoft.com/office/powerpoint/2010/main" val="3219641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RESTRICCIONES DE IGUALDAD</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27</a:t>
            </a:fld>
            <a:endParaRPr/>
          </a:p>
        </p:txBody>
      </p:sp>
      <p:pic>
        <p:nvPicPr>
          <p:cNvPr id="4" name="Imagen 3">
            <a:extLst>
              <a:ext uri="{FF2B5EF4-FFF2-40B4-BE49-F238E27FC236}">
                <a16:creationId xmlns:a16="http://schemas.microsoft.com/office/drawing/2014/main" id="{A2750929-AD9C-432B-BA9F-A2FF53FD8471}"/>
              </a:ext>
            </a:extLst>
          </p:cNvPr>
          <p:cNvPicPr>
            <a:picLocks noChangeAspect="1"/>
          </p:cNvPicPr>
          <p:nvPr/>
        </p:nvPicPr>
        <p:blipFill>
          <a:blip r:embed="rId3"/>
          <a:stretch>
            <a:fillRect/>
          </a:stretch>
        </p:blipFill>
        <p:spPr>
          <a:xfrm>
            <a:off x="1137937" y="1769286"/>
            <a:ext cx="9365306" cy="4093924"/>
          </a:xfrm>
          <a:prstGeom prst="rect">
            <a:avLst/>
          </a:prstGeom>
        </p:spPr>
      </p:pic>
    </p:spTree>
    <p:extLst>
      <p:ext uri="{BB962C8B-B14F-4D97-AF65-F5344CB8AC3E}">
        <p14:creationId xmlns:p14="http://schemas.microsoft.com/office/powerpoint/2010/main" val="2911146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RESTRICCIONES DE IGUALDAD</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28</a:t>
            </a:fld>
            <a:endParaRPr/>
          </a:p>
        </p:txBody>
      </p:sp>
      <p:pic>
        <p:nvPicPr>
          <p:cNvPr id="2" name="Imagen 1">
            <a:extLst>
              <a:ext uri="{FF2B5EF4-FFF2-40B4-BE49-F238E27FC236}">
                <a16:creationId xmlns:a16="http://schemas.microsoft.com/office/drawing/2014/main" id="{30610884-4603-428D-9AFC-D124C8B707E7}"/>
              </a:ext>
            </a:extLst>
          </p:cNvPr>
          <p:cNvPicPr>
            <a:picLocks noChangeAspect="1"/>
          </p:cNvPicPr>
          <p:nvPr/>
        </p:nvPicPr>
        <p:blipFill>
          <a:blip r:embed="rId3"/>
          <a:stretch>
            <a:fillRect/>
          </a:stretch>
        </p:blipFill>
        <p:spPr>
          <a:xfrm>
            <a:off x="838200" y="1506920"/>
            <a:ext cx="9828831" cy="4952364"/>
          </a:xfrm>
          <a:prstGeom prst="rect">
            <a:avLst/>
          </a:prstGeom>
        </p:spPr>
      </p:pic>
    </p:spTree>
    <p:extLst>
      <p:ext uri="{BB962C8B-B14F-4D97-AF65-F5344CB8AC3E}">
        <p14:creationId xmlns:p14="http://schemas.microsoft.com/office/powerpoint/2010/main" val="15977920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fontScale="90000"/>
          </a:bodyPr>
          <a:lstStyle/>
          <a:p>
            <a:pPr lvl="0">
              <a:buSzPts val="4400"/>
            </a:pPr>
            <a:r>
              <a:rPr lang="es-ES" dirty="0"/>
              <a:t>INTERPRETACIÓN ECONÓMICA DE LA DUALIDAD</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29</a:t>
            </a:fld>
            <a:endParaRPr/>
          </a:p>
        </p:txBody>
      </p:sp>
      <p:sp>
        <p:nvSpPr>
          <p:cNvPr id="6" name="Google Shape;97;p2">
            <a:extLst>
              <a:ext uri="{FF2B5EF4-FFF2-40B4-BE49-F238E27FC236}">
                <a16:creationId xmlns:a16="http://schemas.microsoft.com/office/drawing/2014/main" id="{973100DC-FBBF-4419-AD67-06F1B9AB1DBE}"/>
              </a:ext>
            </a:extLst>
          </p:cNvPr>
          <p:cNvSpPr txBox="1">
            <a:spLocks noGrp="1"/>
          </p:cNvSpPr>
          <p:nvPr>
            <p:ph type="body" idx="1"/>
          </p:nvPr>
        </p:nvSpPr>
        <p:spPr>
          <a:xfrm>
            <a:off x="68713" y="1690688"/>
            <a:ext cx="11843200" cy="2683604"/>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La interpretación económica de las variables duales tiene que ver con analizar qué sucede con una solución óptima dado un cambio muy ligero (unitario) en la disponibilidad de recursos, ya sea incrementando o decrementando</a:t>
            </a:r>
          </a:p>
          <a:p>
            <a:pPr marL="228600" lvl="0" indent="-228600">
              <a:spcBef>
                <a:spcPts val="0"/>
              </a:spcBef>
              <a:buSzPts val="2800"/>
            </a:pPr>
            <a:r>
              <a:rPr lang="es-ES" dirty="0"/>
              <a:t>Se llama precio sombra de un determinado recurso:</a:t>
            </a:r>
          </a:p>
          <a:p>
            <a:pPr marL="685800" lvl="1" indent="-228600">
              <a:spcBef>
                <a:spcPts val="0"/>
              </a:spcBef>
              <a:buSzPts val="2800"/>
            </a:pPr>
            <a:r>
              <a:rPr lang="es-ES" dirty="0"/>
              <a:t>el precio sombra para el recurso i se denota como Y i , mide el valor marginal de este recurso, es decir, la tasa a la cual cambia el valor óptimo de la función objetivo Z, cuando se modifica una unidad la disponibilidad del recurso i.</a:t>
            </a:r>
            <a:endParaRPr dirty="0"/>
          </a:p>
        </p:txBody>
      </p:sp>
      <p:pic>
        <p:nvPicPr>
          <p:cNvPr id="3" name="Imagen 2">
            <a:extLst>
              <a:ext uri="{FF2B5EF4-FFF2-40B4-BE49-F238E27FC236}">
                <a16:creationId xmlns:a16="http://schemas.microsoft.com/office/drawing/2014/main" id="{EFF0C922-940F-4809-B1BA-91F49FF325C3}"/>
              </a:ext>
            </a:extLst>
          </p:cNvPr>
          <p:cNvPicPr>
            <a:picLocks noChangeAspect="1"/>
          </p:cNvPicPr>
          <p:nvPr/>
        </p:nvPicPr>
        <p:blipFill>
          <a:blip r:embed="rId3"/>
          <a:stretch>
            <a:fillRect/>
          </a:stretch>
        </p:blipFill>
        <p:spPr>
          <a:xfrm>
            <a:off x="629569" y="4672367"/>
            <a:ext cx="1696502" cy="639666"/>
          </a:xfrm>
          <a:prstGeom prst="rect">
            <a:avLst/>
          </a:prstGeom>
        </p:spPr>
      </p:pic>
      <p:pic>
        <p:nvPicPr>
          <p:cNvPr id="4" name="Imagen 3">
            <a:extLst>
              <a:ext uri="{FF2B5EF4-FFF2-40B4-BE49-F238E27FC236}">
                <a16:creationId xmlns:a16="http://schemas.microsoft.com/office/drawing/2014/main" id="{9ED983A9-161E-443D-9E7D-2B664D797FC4}"/>
              </a:ext>
            </a:extLst>
          </p:cNvPr>
          <p:cNvPicPr>
            <a:picLocks noChangeAspect="1"/>
          </p:cNvPicPr>
          <p:nvPr/>
        </p:nvPicPr>
        <p:blipFill>
          <a:blip r:embed="rId4"/>
          <a:stretch>
            <a:fillRect/>
          </a:stretch>
        </p:blipFill>
        <p:spPr>
          <a:xfrm>
            <a:off x="629568" y="5556980"/>
            <a:ext cx="1860849" cy="639666"/>
          </a:xfrm>
          <a:prstGeom prst="rect">
            <a:avLst/>
          </a:prstGeom>
        </p:spPr>
      </p:pic>
    </p:spTree>
    <p:extLst>
      <p:ext uri="{BB962C8B-B14F-4D97-AF65-F5344CB8AC3E}">
        <p14:creationId xmlns:p14="http://schemas.microsoft.com/office/powerpoint/2010/main" val="22411644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INTERPRETACIÓN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30</a:t>
            </a:fld>
            <a:endParaRPr/>
          </a:p>
        </p:txBody>
      </p:sp>
      <p:sp>
        <p:nvSpPr>
          <p:cNvPr id="8" name="Google Shape;97;p2">
            <a:extLst>
              <a:ext uri="{FF2B5EF4-FFF2-40B4-BE49-F238E27FC236}">
                <a16:creationId xmlns:a16="http://schemas.microsoft.com/office/drawing/2014/main" id="{E2C217DC-1E21-4829-9901-9F99564C3F0B}"/>
              </a:ext>
            </a:extLst>
          </p:cNvPr>
          <p:cNvSpPr txBox="1">
            <a:spLocks noGrp="1"/>
          </p:cNvSpPr>
          <p:nvPr>
            <p:ph type="body" idx="1"/>
          </p:nvPr>
        </p:nvSpPr>
        <p:spPr>
          <a:xfrm>
            <a:off x="68713" y="1424648"/>
            <a:ext cx="11843200" cy="4654876"/>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La compañía Sigma produce bibliotecas y escritorios para los cuales se ha establecido un precio de venta por unidad de $9.000 y $10.000 respectivamente. Para la producción de dichos artículos la compañía cuenta con una disponibilidad mensual de 700 metros de madera, 800 metros de tubo y 900 pliegos de papel de lija. ¿Qué cantidad de bibliotecas y escritorios se debe fabricar mensualmente si se sabe que una biblioteca consume 7 metros de madera, 10 metros de tubo y 6 pliegos de papel de lija; mientras que para producir un escritorio se requiere10 metros de madera, 8 metros de tubo y 15 pliegos de papel de lija?</a:t>
            </a:r>
            <a:endParaRPr dirty="0"/>
          </a:p>
        </p:txBody>
      </p:sp>
    </p:spTree>
    <p:extLst>
      <p:ext uri="{BB962C8B-B14F-4D97-AF65-F5344CB8AC3E}">
        <p14:creationId xmlns:p14="http://schemas.microsoft.com/office/powerpoint/2010/main" val="2105394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INTERPRETACIÓN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31</a:t>
            </a:fld>
            <a:endParaRPr/>
          </a:p>
        </p:txBody>
      </p:sp>
      <p:sp>
        <p:nvSpPr>
          <p:cNvPr id="8" name="Google Shape;97;p2">
            <a:extLst>
              <a:ext uri="{FF2B5EF4-FFF2-40B4-BE49-F238E27FC236}">
                <a16:creationId xmlns:a16="http://schemas.microsoft.com/office/drawing/2014/main" id="{E2C217DC-1E21-4829-9901-9F99564C3F0B}"/>
              </a:ext>
            </a:extLst>
          </p:cNvPr>
          <p:cNvSpPr txBox="1">
            <a:spLocks noGrp="1"/>
          </p:cNvSpPr>
          <p:nvPr>
            <p:ph type="body" idx="1"/>
          </p:nvPr>
        </p:nvSpPr>
        <p:spPr>
          <a:xfrm>
            <a:off x="68713" y="1424648"/>
            <a:ext cx="11843200" cy="118268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¿Cuánto es la utilidad para la compañía, si se incrementa en un metro la disponibilidad de madera?</a:t>
            </a:r>
            <a:endParaRPr dirty="0"/>
          </a:p>
        </p:txBody>
      </p:sp>
      <p:pic>
        <p:nvPicPr>
          <p:cNvPr id="6" name="Imagen 5">
            <a:extLst>
              <a:ext uri="{FF2B5EF4-FFF2-40B4-BE49-F238E27FC236}">
                <a16:creationId xmlns:a16="http://schemas.microsoft.com/office/drawing/2014/main" id="{DAC7CB67-DE95-412C-BD58-8467A13B869B}"/>
              </a:ext>
            </a:extLst>
          </p:cNvPr>
          <p:cNvPicPr>
            <a:picLocks noChangeAspect="1"/>
          </p:cNvPicPr>
          <p:nvPr/>
        </p:nvPicPr>
        <p:blipFill>
          <a:blip r:embed="rId3"/>
          <a:stretch>
            <a:fillRect/>
          </a:stretch>
        </p:blipFill>
        <p:spPr>
          <a:xfrm rot="5400000">
            <a:off x="3796509" y="-297914"/>
            <a:ext cx="4387606" cy="9539419"/>
          </a:xfrm>
          <a:prstGeom prst="rect">
            <a:avLst/>
          </a:prstGeom>
        </p:spPr>
      </p:pic>
    </p:spTree>
    <p:extLst>
      <p:ext uri="{BB962C8B-B14F-4D97-AF65-F5344CB8AC3E}">
        <p14:creationId xmlns:p14="http://schemas.microsoft.com/office/powerpoint/2010/main" val="38803120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INTERPRETACIÓN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32</a:t>
            </a:fld>
            <a:endParaRPr/>
          </a:p>
        </p:txBody>
      </p:sp>
      <p:sp>
        <p:nvSpPr>
          <p:cNvPr id="8" name="Google Shape;97;p2">
            <a:extLst>
              <a:ext uri="{FF2B5EF4-FFF2-40B4-BE49-F238E27FC236}">
                <a16:creationId xmlns:a16="http://schemas.microsoft.com/office/drawing/2014/main" id="{E2C217DC-1E21-4829-9901-9F99564C3F0B}"/>
              </a:ext>
            </a:extLst>
          </p:cNvPr>
          <p:cNvSpPr txBox="1">
            <a:spLocks noGrp="1"/>
          </p:cNvSpPr>
          <p:nvPr>
            <p:ph type="body" idx="1"/>
          </p:nvPr>
        </p:nvSpPr>
        <p:spPr>
          <a:xfrm>
            <a:off x="68713" y="1424647"/>
            <a:ext cx="11843200" cy="4931703"/>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¿Cuánto es la utilidad para la compañía, si se incrementa en un metro la disponibilidad de madera?</a:t>
            </a:r>
          </a:p>
          <a:p>
            <a:pPr marL="228600" lvl="0" indent="-228600">
              <a:spcBef>
                <a:spcPts val="0"/>
              </a:spcBef>
              <a:buSzPts val="2800"/>
            </a:pPr>
            <a:endParaRPr lang="es-ES" dirty="0"/>
          </a:p>
          <a:p>
            <a:pPr marL="228600" lvl="0" indent="-228600">
              <a:spcBef>
                <a:spcPts val="0"/>
              </a:spcBef>
              <a:buSzPts val="2800"/>
            </a:pPr>
            <a:r>
              <a:rPr lang="es-ES" dirty="0"/>
              <a:t>En este caso se está hablando del primer recurso, por lo tanto la variable a considerar es la primera en la solución dual, esto es, Y1=7/11. Por lo tanto la nueva utilidad generada se calcula como: Z* =Z+ Yi. Aplicando los valores se obtiene: Z* =8900/11 + 7/11 = 8907/11</a:t>
            </a:r>
          </a:p>
          <a:p>
            <a:pPr marL="228600" lvl="0" indent="-228600">
              <a:spcBef>
                <a:spcPts val="0"/>
              </a:spcBef>
              <a:buSzPts val="2800"/>
            </a:pPr>
            <a:endParaRPr lang="es-ES" dirty="0"/>
          </a:p>
          <a:p>
            <a:pPr marL="228600" lvl="0" indent="-228600">
              <a:spcBef>
                <a:spcPts val="0"/>
              </a:spcBef>
              <a:buSzPts val="2800"/>
            </a:pPr>
            <a:r>
              <a:rPr lang="es-ES" dirty="0"/>
              <a:t>En general, si se aumenta o se disminuye en un metro la disponibilidad de madera la utilidad aumenta o disminuye en su precio sombra, para este caso en 7/11.</a:t>
            </a:r>
            <a:endParaRPr dirty="0"/>
          </a:p>
        </p:txBody>
      </p:sp>
    </p:spTree>
    <p:extLst>
      <p:ext uri="{BB962C8B-B14F-4D97-AF65-F5344CB8AC3E}">
        <p14:creationId xmlns:p14="http://schemas.microsoft.com/office/powerpoint/2010/main" val="4276618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INTERPRETACIÓN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33</a:t>
            </a:fld>
            <a:endParaRPr/>
          </a:p>
        </p:txBody>
      </p:sp>
      <p:sp>
        <p:nvSpPr>
          <p:cNvPr id="8" name="Google Shape;97;p2">
            <a:extLst>
              <a:ext uri="{FF2B5EF4-FFF2-40B4-BE49-F238E27FC236}">
                <a16:creationId xmlns:a16="http://schemas.microsoft.com/office/drawing/2014/main" id="{E2C217DC-1E21-4829-9901-9F99564C3F0B}"/>
              </a:ext>
            </a:extLst>
          </p:cNvPr>
          <p:cNvSpPr txBox="1">
            <a:spLocks noGrp="1"/>
          </p:cNvSpPr>
          <p:nvPr>
            <p:ph type="body" idx="1"/>
          </p:nvPr>
        </p:nvSpPr>
        <p:spPr>
          <a:xfrm>
            <a:off x="68713" y="1424647"/>
            <a:ext cx="11843200" cy="4931703"/>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Evaluar la utilidad cuando se disminuye en 1 metro la disponibilidad de tubo.</a:t>
            </a:r>
          </a:p>
        </p:txBody>
      </p:sp>
      <p:pic>
        <p:nvPicPr>
          <p:cNvPr id="6" name="Imagen 5">
            <a:extLst>
              <a:ext uri="{FF2B5EF4-FFF2-40B4-BE49-F238E27FC236}">
                <a16:creationId xmlns:a16="http://schemas.microsoft.com/office/drawing/2014/main" id="{2E5E0F11-D6EA-4EAA-BF34-6EF4983508BC}"/>
              </a:ext>
            </a:extLst>
          </p:cNvPr>
          <p:cNvPicPr>
            <a:picLocks noChangeAspect="1"/>
          </p:cNvPicPr>
          <p:nvPr/>
        </p:nvPicPr>
        <p:blipFill>
          <a:blip r:embed="rId3"/>
          <a:stretch>
            <a:fillRect/>
          </a:stretch>
        </p:blipFill>
        <p:spPr>
          <a:xfrm rot="5400000">
            <a:off x="3796509" y="-297914"/>
            <a:ext cx="4387606" cy="9539419"/>
          </a:xfrm>
          <a:prstGeom prst="rect">
            <a:avLst/>
          </a:prstGeom>
        </p:spPr>
      </p:pic>
    </p:spTree>
    <p:extLst>
      <p:ext uri="{BB962C8B-B14F-4D97-AF65-F5344CB8AC3E}">
        <p14:creationId xmlns:p14="http://schemas.microsoft.com/office/powerpoint/2010/main" val="37430436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INTERPRETACIÓN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34</a:t>
            </a:fld>
            <a:endParaRPr/>
          </a:p>
        </p:txBody>
      </p:sp>
      <p:sp>
        <p:nvSpPr>
          <p:cNvPr id="8" name="Google Shape;97;p2">
            <a:extLst>
              <a:ext uri="{FF2B5EF4-FFF2-40B4-BE49-F238E27FC236}">
                <a16:creationId xmlns:a16="http://schemas.microsoft.com/office/drawing/2014/main" id="{E2C217DC-1E21-4829-9901-9F99564C3F0B}"/>
              </a:ext>
            </a:extLst>
          </p:cNvPr>
          <p:cNvSpPr txBox="1">
            <a:spLocks noGrp="1"/>
          </p:cNvSpPr>
          <p:nvPr>
            <p:ph type="body" idx="1"/>
          </p:nvPr>
        </p:nvSpPr>
        <p:spPr>
          <a:xfrm>
            <a:off x="68713" y="1424647"/>
            <a:ext cx="11843200" cy="4931703"/>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Evaluar la utilidad cuando se disminuye en 1 metro la disponibilidad de tubo.</a:t>
            </a:r>
          </a:p>
          <a:p>
            <a:pPr marL="228600" lvl="0" indent="-228600">
              <a:spcBef>
                <a:spcPts val="0"/>
              </a:spcBef>
              <a:buSzPts val="2800"/>
            </a:pPr>
            <a:endParaRPr lang="es-ES" dirty="0"/>
          </a:p>
          <a:p>
            <a:pPr marL="228600" lvl="0" indent="-228600">
              <a:spcBef>
                <a:spcPts val="0"/>
              </a:spcBef>
              <a:buSzPts val="2800"/>
            </a:pPr>
            <a:r>
              <a:rPr lang="es-ES" dirty="0"/>
              <a:t>En este caso se está hablando del segundo recurso cuyo precio sombra es Y2=5/11. Por lo tanto la utilidad disminuye en este valor. La nueva utilidad se determina como: Z* =8900/11 – 5/11 = 8895/11. En conclusión, un incremento o decremento en un metro de tubo generará un incremento o decremento en la utilidad de $5/11.</a:t>
            </a:r>
          </a:p>
        </p:txBody>
      </p:sp>
    </p:spTree>
    <p:extLst>
      <p:ext uri="{BB962C8B-B14F-4D97-AF65-F5344CB8AC3E}">
        <p14:creationId xmlns:p14="http://schemas.microsoft.com/office/powerpoint/2010/main" val="24237066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DUALIDAD - INTERPRETACIÓN</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35</a:t>
            </a:fld>
            <a:endParaRPr/>
          </a:p>
        </p:txBody>
      </p:sp>
      <p:sp>
        <p:nvSpPr>
          <p:cNvPr id="8" name="Google Shape;97;p2">
            <a:extLst>
              <a:ext uri="{FF2B5EF4-FFF2-40B4-BE49-F238E27FC236}">
                <a16:creationId xmlns:a16="http://schemas.microsoft.com/office/drawing/2014/main" id="{E2C217DC-1E21-4829-9901-9F99564C3F0B}"/>
              </a:ext>
            </a:extLst>
          </p:cNvPr>
          <p:cNvSpPr txBox="1">
            <a:spLocks noGrp="1"/>
          </p:cNvSpPr>
          <p:nvPr>
            <p:ph type="body" idx="1"/>
          </p:nvPr>
        </p:nvSpPr>
        <p:spPr>
          <a:xfrm>
            <a:off x="68713" y="1424647"/>
            <a:ext cx="11843200" cy="4931703"/>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¿Qué sucede si se incrementa en un pliego la disponibilidad de papel de lija?</a:t>
            </a:r>
          </a:p>
          <a:p>
            <a:pPr marL="228600" lvl="0" indent="-228600">
              <a:spcBef>
                <a:spcPts val="0"/>
              </a:spcBef>
              <a:buSzPts val="2800"/>
            </a:pPr>
            <a:endParaRPr lang="es-ES" dirty="0"/>
          </a:p>
          <a:p>
            <a:pPr marL="228600" lvl="0" indent="-228600">
              <a:spcBef>
                <a:spcPts val="0"/>
              </a:spcBef>
              <a:buSzPts val="2800"/>
            </a:pPr>
            <a:r>
              <a:rPr lang="es-ES" dirty="0"/>
              <a:t>La solución dual para la tercera variable es Y 3 =0. Por lo tanto este </a:t>
            </a:r>
            <a:r>
              <a:rPr lang="es-ES"/>
              <a:t>cambio no genera </a:t>
            </a:r>
            <a:r>
              <a:rPr lang="es-ES" dirty="0"/>
              <a:t>incremento en la utilidad. Esto es muy lógico, se esta diciendo en la solución inicial que sobran 1050/11 de pliegos de lija; por lo tanto un cambio de un pliego de lija no afecta la solución.</a:t>
            </a:r>
          </a:p>
        </p:txBody>
      </p:sp>
    </p:spTree>
    <p:extLst>
      <p:ext uri="{BB962C8B-B14F-4D97-AF65-F5344CB8AC3E}">
        <p14:creationId xmlns:p14="http://schemas.microsoft.com/office/powerpoint/2010/main" val="3333803009"/>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5A28123DCCFD49B294645E76DCB2CF" ma:contentTypeVersion="7" ma:contentTypeDescription="Create a new document." ma:contentTypeScope="" ma:versionID="56dcdca2374c200b0c1ba13fde7aace6">
  <xsd:schema xmlns:xsd="http://www.w3.org/2001/XMLSchema" xmlns:xs="http://www.w3.org/2001/XMLSchema" xmlns:p="http://schemas.microsoft.com/office/2006/metadata/properties" xmlns:ns3="08e6a8ce-ef8d-47d0-8407-5409149b2530" xmlns:ns4="aada6357-111f-421e-a5e4-0998df4d0713" targetNamespace="http://schemas.microsoft.com/office/2006/metadata/properties" ma:root="true" ma:fieldsID="020a1421122fdcef3a7dd5a71095ccb0" ns3:_="" ns4:_="">
    <xsd:import namespace="08e6a8ce-ef8d-47d0-8407-5409149b2530"/>
    <xsd:import namespace="aada6357-111f-421e-a5e4-0998df4d071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e6a8ce-ef8d-47d0-8407-5409149b253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da6357-111f-421e-a5e4-0998df4d071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851B0EF-2F03-48CB-8E9D-D0E7CE7AA6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e6a8ce-ef8d-47d0-8407-5409149b2530"/>
    <ds:schemaRef ds:uri="aada6357-111f-421e-a5e4-0998df4d07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3A5322-98EE-411A-8B94-85904ABE4C59}">
  <ds:schemaRefs>
    <ds:schemaRef ds:uri="http://purl.org/dc/terms/"/>
    <ds:schemaRef ds:uri="http://www.w3.org/XML/1998/namespace"/>
    <ds:schemaRef ds:uri="http://schemas.openxmlformats.org/package/2006/metadata/core-properties"/>
    <ds:schemaRef ds:uri="http://schemas.microsoft.com/office/2006/metadata/properties"/>
    <ds:schemaRef ds:uri="08e6a8ce-ef8d-47d0-8407-5409149b2530"/>
    <ds:schemaRef ds:uri="http://schemas.microsoft.com/office/2006/documentManagement/types"/>
    <ds:schemaRef ds:uri="http://schemas.microsoft.com/office/infopath/2007/PartnerControls"/>
    <ds:schemaRef ds:uri="http://purl.org/dc/elements/1.1/"/>
    <ds:schemaRef ds:uri="http://purl.org/dc/dcmitype/"/>
    <ds:schemaRef ds:uri="aada6357-111f-421e-a5e4-0998df4d0713"/>
  </ds:schemaRefs>
</ds:datastoreItem>
</file>

<file path=customXml/itemProps3.xml><?xml version="1.0" encoding="utf-8"?>
<ds:datastoreItem xmlns:ds="http://schemas.openxmlformats.org/officeDocument/2006/customXml" ds:itemID="{E21A3B1C-CDAB-43A6-89D4-ED4D450A13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346</TotalTime>
  <Words>1601</Words>
  <Application>Microsoft Office PowerPoint</Application>
  <PresentationFormat>Panorámica</PresentationFormat>
  <Paragraphs>108</Paragraphs>
  <Slides>35</Slides>
  <Notes>35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35</vt:i4>
      </vt:variant>
    </vt:vector>
  </HeadingPairs>
  <TitlesOfParts>
    <vt:vector size="41" baseType="lpstr">
      <vt:lpstr>Ancizar Sans</vt:lpstr>
      <vt:lpstr>Arial</vt:lpstr>
      <vt:lpstr>Cambria Math</vt:lpstr>
      <vt:lpstr>Calibri</vt:lpstr>
      <vt:lpstr>Ancizar Sans Black</vt:lpstr>
      <vt:lpstr>Tema de Office</vt:lpstr>
      <vt:lpstr>OPTIMIZACIÓN</vt:lpstr>
      <vt:lpstr>Presentación de PowerPoint</vt:lpstr>
      <vt:lpstr>Presentación de PowerPoint</vt:lpstr>
      <vt:lpstr>DUALIDAD</vt:lpstr>
      <vt:lpstr>DUALIDAD</vt:lpstr>
      <vt:lpstr>DUALIDAD</vt:lpstr>
      <vt:lpstr>DUALIDAD</vt:lpstr>
      <vt:lpstr>DUALIDAD - PROBLEMAS DE MAXIMIZACIÓN</vt:lpstr>
      <vt:lpstr>DUALIDAD - PROBLEMAS DE MAXIMIZACIÓN</vt:lpstr>
      <vt:lpstr>DUALIDAD - PROBLEMAS DE MAXIMIZACIÓN</vt:lpstr>
      <vt:lpstr>DUALIDAD - PROBLEMAS DE MAXIMIZACIÓN</vt:lpstr>
      <vt:lpstr>DUALIDAD - PROBLEMAS DE MAXIMIZACIÓN</vt:lpstr>
      <vt:lpstr>DUALIDAD - PROBLEMAS DE MAXIMIZACIÓN</vt:lpstr>
      <vt:lpstr>DUALIDAD - PROBLEMAS DE MAXIMIZACIÓN</vt:lpstr>
      <vt:lpstr>DUALIDAD - PROBLEMAS DE MAXIMIZACIÓN</vt:lpstr>
      <vt:lpstr>DUALIDAD - PROBLEMAS DE MAXIMIZACIÓN</vt:lpstr>
      <vt:lpstr>DUALIDAD - PROBLEMAS DE MAXIMIZACIÓN</vt:lpstr>
      <vt:lpstr>DUALIDAD - PROBLEMAS DE MINIMIZACIÓN</vt:lpstr>
      <vt:lpstr>DUALIDAD - PROBLEMAS DE MINIMIZACIÓN</vt:lpstr>
      <vt:lpstr>DUALIDAD - PROBLEMAS DE MINIMIZACIÓN</vt:lpstr>
      <vt:lpstr>DUALIDAD - PROBLEMAS DE MINIMIZACIÓN</vt:lpstr>
      <vt:lpstr>DUALIDAD - PROBLEMAS DE MINIMIZACIÓN</vt:lpstr>
      <vt:lpstr>DUALIDAD – RESTRICCIONES DE IGUALDAD</vt:lpstr>
      <vt:lpstr>DUALIDAD – RESTRICCIONES DE IGUALDAD</vt:lpstr>
      <vt:lpstr>DUALIDAD – RESTRICCIONES DE IGUALDAD</vt:lpstr>
      <vt:lpstr>DUALIDAD – RESTRICCIONES DE IGUALDAD</vt:lpstr>
      <vt:lpstr>DUALIDAD – RESTRICCIONES DE IGUALDAD</vt:lpstr>
      <vt:lpstr>DUALIDAD – RESTRICCIONES DE IGUALDAD</vt:lpstr>
      <vt:lpstr>INTERPRETACIÓN ECONÓMICA DE LA DUALIDAD</vt:lpstr>
      <vt:lpstr>DUALIDAD - INTERPRETACIÓN</vt:lpstr>
      <vt:lpstr>DUALIDAD - INTERPRETACIÓN</vt:lpstr>
      <vt:lpstr>DUALIDAD - INTERPRETACIÓN</vt:lpstr>
      <vt:lpstr>DUALIDAD - INTERPRETACIÓN</vt:lpstr>
      <vt:lpstr>DUALIDAD - INTERPRETACIÓN</vt:lpstr>
      <vt:lpstr>DUALIDAD - INTERPRETACIÓN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LINEAL</dc:title>
  <dc:creator>Henry Armando Percy Guzman</dc:creator>
  <cp:lastModifiedBy>estudiante</cp:lastModifiedBy>
  <cp:revision>17</cp:revision>
  <dcterms:created xsi:type="dcterms:W3CDTF">2022-02-13T16:53:43Z</dcterms:created>
  <dcterms:modified xsi:type="dcterms:W3CDTF">2025-11-05T20:36:09Z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0x010100405A28123DCCFD49B294645E76DCB2CF</vt:lpwstr>
  </property>
</Properties>
</file>